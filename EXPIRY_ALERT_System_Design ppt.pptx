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9/6/2026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8235629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80402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9/6/2026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30769768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endParaRPr lang="en-US" dirty="0"/>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9747285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9/6/2026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6915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893378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28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077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209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endParaRPr lang="en-US" dirty="0"/>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9701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DA2CEDE-2AB4-4FB8-9551-E0AA4222B1A3}" type="datetime1">
              <a:rPr lang="en-US" smtClean="0"/>
              <a:pPr/>
              <a:t>9/6/2026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225552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DA2CEDE-2AB4-4FB8-9551-E0AA4222B1A3}" type="datetime1">
              <a:rPr lang="en-US" smtClean="0"/>
              <a:pPr/>
              <a:t>9/6/2026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83104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DA2CEDE-2AB4-4FB8-9551-E0AA4222B1A3}" type="datetime1">
              <a:rPr lang="en-US" smtClean="0"/>
              <a:pPr/>
              <a:t>9/6/2026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038228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DA2CEDE-2AB4-4FB8-9551-E0AA4222B1A3}" type="datetime1">
              <a:rPr lang="en-US" smtClean="0"/>
              <a:pPr/>
              <a:t>9/6/2026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endParaRPr lang="en-US" dirty="0"/>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786234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DA2CEDE-2AB4-4FB8-9551-E0AA4222B1A3}" type="datetime1">
              <a:rPr lang="en-US" smtClean="0"/>
              <a:pPr/>
              <a:t>9/6/2026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endParaRPr lang="en-US" dirty="0"/>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779149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1414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5880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endParaRPr lang="en-US" dirty="0"/>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DA2CEDE-2AB4-4FB8-9551-E0AA4222B1A3}" type="datetime1">
              <a:rPr lang="en-US" smtClean="0"/>
              <a:pPr/>
              <a:t>9/6/2026</a:t>
            </a:fld>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5E0677F5-4A8A-4BF1-96BE-3BAE8FBAFE2E}"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761089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6903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9/6/2026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832641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5223529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9080879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296941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4584702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9A36574F-2CAD-411B-9EF3-12D0DF2C09EB}" type="datetime1">
              <a:rPr lang="en-US" smtClean="0"/>
              <a:t>9/6/2026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t>‹#›</a:t>
            </a:fld>
            <a:endParaRPr lang="en-US"/>
          </a:p>
        </p:txBody>
      </p:sp>
    </p:spTree>
    <p:extLst>
      <p:ext uri="{BB962C8B-B14F-4D97-AF65-F5344CB8AC3E}">
        <p14:creationId xmlns:p14="http://schemas.microsoft.com/office/powerpoint/2010/main" val="3123728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3586261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0439310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47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theme" Target="../theme/theme1.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DA2CEDE-2AB4-4FB8-9551-E0AA4222B1A3}" type="datetime1">
              <a:rPr lang="en-US" smtClean="0"/>
              <a:pPr/>
              <a:t>9/6/2026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5E0677F5-4A8A-4BF1-96BE-3BAE8FBAFE2E}" type="slidenum">
              <a:rPr lang="en-US" smtClean="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1637588"/>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99" r:id="rId15"/>
    <p:sldLayoutId id="2147483900" r:id="rId16"/>
    <p:sldLayoutId id="2147483901" r:id="rId17"/>
    <p:sldLayoutId id="2147483902" r:id="rId18"/>
    <p:sldLayoutId id="2147483903" r:id="rId19"/>
    <p:sldLayoutId id="2147483904" r:id="rId20"/>
    <p:sldLayoutId id="2147483905" r:id="rId21"/>
    <p:sldLayoutId id="2147483906" r:id="rId22"/>
    <p:sldLayoutId id="2147483907" r:id="rId23"/>
    <p:sldLayoutId id="2147483908" r:id="rId24"/>
    <p:sldLayoutId id="2147483909" r:id="rId25"/>
    <p:sldLayoutId id="2147483910" r:id="rId26"/>
    <p:sldLayoutId id="2147483911" r:id="rId27"/>
    <p:sldLayoutId id="2147483912"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8.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8.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8.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8.xml" /></Relationships>
</file>

<file path=ppt/slides/_rels/slide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5.xml" /><Relationship Id="rId1" Type="http://schemas.openxmlformats.org/officeDocument/2006/relationships/slideLayout" Target="../slideLayouts/slideLayout28.xml" /></Relationships>
</file>

<file path=ppt/slides/_rels/slide6.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6.xml" /><Relationship Id="rId1" Type="http://schemas.openxmlformats.org/officeDocument/2006/relationships/slideLayout" Target="../slideLayouts/slideLayout28.xml" /><Relationship Id="rId4" Type="http://schemas.openxmlformats.org/officeDocument/2006/relationships/image" Target="../media/image11.png" /></Relationships>
</file>

<file path=ppt/slides/_rels/slide7.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7.xml" /><Relationship Id="rId1" Type="http://schemas.openxmlformats.org/officeDocument/2006/relationships/slideLayout" Target="../slideLayouts/slideLayout28.xml" /></Relationships>
</file>

<file path=ppt/slides/_rels/slide8.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8.xml" /><Relationship Id="rId1" Type="http://schemas.openxmlformats.org/officeDocument/2006/relationships/slideLayout" Target="../slideLayouts/slideLayout28.xml" /></Relationships>
</file>

<file path=ppt/slides/_rels/slide9.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9.xml" /><Relationship Id="rId1" Type="http://schemas.openxmlformats.org/officeDocument/2006/relationships/slideLayout" Target="../slideLayouts/slideLayout28.xml" /></Relationships>
</file>

<file path=ppt/slides/_rels/slide10.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10.xml" /><Relationship Id="rId1" Type="http://schemas.openxmlformats.org/officeDocument/2006/relationships/slideLayout" Target="../slideLayouts/slideLayout2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A7FAF66-9AB0-442E-BBF2-FE39154071C3}"/>
              </a:ext>
            </a:extLst>
          </p:cNvPr>
          <p:cNvSpPr>
            <a:spLocks noGrp="1"/>
          </p:cNvSpPr>
          <p:nvPr/>
        </p:nvSpPr>
        <p:spPr>
          <a:xfrm>
            <a:off x="685800" y="762000"/>
            <a:ext cx="6477000" cy="742950"/>
          </a:xfrm>
          <a:prstGeom prst="rect">
            <a:avLst/>
          </a:prstGeom>
          <a:noFill/>
          <a:ln w="0">
            <a:noFill/>
            <a:prstDash val="solid"/>
          </a:ln>
        </p:spPr>
        <p:txBody>
          <a:bodyPr/>
          <a:lstStyle/>
          <a:p>
            <a:pPr>
              <a:defRPr sz="4800" b="1">
                <a:solidFill>
                  <a:srgbClr val="111827"/>
                </a:solidFill>
              </a:defRPr>
            </a:pPr>
            <a:r>
              <a:rPr sz="4800" b="1">
                <a:solidFill>
                  <a:srgbClr val="111827"/>
                </a:solidFill>
              </a:rPr>
              <a:t>EXPIRY.ALERT</a:t>
            </a:r>
          </a:p>
        </p:txBody>
      </p:sp>
      <p:sp>
        <p:nvSpPr>
          <p:cNvPr id="2" name="Rectangle 1">
            <a:extLst>
              <a:ext uri="{FF2B5EF4-FFF2-40B4-BE49-F238E27FC236}">
                <a16:creationId xmlns:a16="http://schemas.microsoft.com/office/drawing/2014/main" id="{4E2BE934-880B-488D-820D-515880C68725}"/>
              </a:ext>
            </a:extLst>
          </p:cNvPr>
          <p:cNvSpPr>
            <a:spLocks noGrp="1"/>
          </p:cNvSpPr>
          <p:nvPr/>
        </p:nvSpPr>
        <p:spPr>
          <a:xfrm>
            <a:off x="723900" y="1619250"/>
            <a:ext cx="5715000" cy="857250"/>
          </a:xfrm>
          <a:prstGeom prst="rect">
            <a:avLst/>
          </a:prstGeom>
          <a:noFill/>
          <a:ln w="0">
            <a:noFill/>
            <a:prstDash val="solid"/>
          </a:ln>
        </p:spPr>
        <p:txBody>
          <a:bodyPr/>
          <a:lstStyle/>
          <a:p>
            <a:pPr>
              <a:defRPr sz="2550" b="0">
                <a:solidFill>
                  <a:srgbClr val="4B5563"/>
                </a:solidFill>
              </a:defRPr>
            </a:pPr>
            <a:endParaRPr lang="en-US" sz="2550" b="0" dirty="0">
              <a:solidFill>
                <a:srgbClr val="4B5563"/>
              </a:solidFill>
            </a:endParaRPr>
          </a:p>
          <a:p>
            <a:pPr>
              <a:defRPr sz="2550" b="0">
                <a:solidFill>
                  <a:srgbClr val="4B5563"/>
                </a:solidFill>
              </a:defRPr>
            </a:pPr>
            <a:r>
              <a:rPr sz="2550" b="0" dirty="0">
                <a:solidFill>
                  <a:srgbClr val="4B5563"/>
                </a:solidFill>
              </a:rPr>
              <a:t>Smart Household Expiry</a:t>
            </a:r>
          </a:p>
          <a:p>
            <a:pPr>
              <a:defRPr sz="2550" b="0">
                <a:solidFill>
                  <a:srgbClr val="4B5563"/>
                </a:solidFill>
              </a:defRPr>
            </a:pPr>
            <a:r>
              <a:rPr sz="2550" b="0" dirty="0">
                <a:solidFill>
                  <a:srgbClr val="4B5563"/>
                </a:solidFill>
              </a:rPr>
              <a:t>Management System</a:t>
            </a:r>
          </a:p>
        </p:txBody>
      </p:sp>
      <p:sp>
        <p:nvSpPr>
          <p:cNvPr id="3" name="Rectangle: Rounded Corners 2">
            <a:extLst>
              <a:ext uri="{FF2B5EF4-FFF2-40B4-BE49-F238E27FC236}">
                <a16:creationId xmlns:a16="http://schemas.microsoft.com/office/drawing/2014/main" id="{67069442-ADF3-43CA-A555-1F14165F554F}"/>
              </a:ext>
            </a:extLst>
          </p:cNvPr>
          <p:cNvSpPr>
            <a:spLocks noGrp="1"/>
          </p:cNvSpPr>
          <p:nvPr/>
        </p:nvSpPr>
        <p:spPr>
          <a:xfrm>
            <a:off x="7239000" y="857250"/>
            <a:ext cx="3429000" cy="4000500"/>
          </a:xfrm>
          <a:prstGeom prst="roundRect">
            <a:avLst>
              <a:gd name="adj" fmla="val 3333"/>
            </a:avLst>
          </a:prstGeom>
          <a:solidFill>
            <a:srgbClr val="E7F3FF"/>
          </a:solidFill>
          <a:ln w="11430">
            <a:solidFill>
              <a:srgbClr val="B9DDF7"/>
            </a:solidFill>
            <a:prstDash val="solid"/>
          </a:ln>
        </p:spPr>
      </p:sp>
      <p:sp>
        <p:nvSpPr>
          <p:cNvPr id="4" name="Rectangle 3">
            <a:extLst>
              <a:ext uri="{FF2B5EF4-FFF2-40B4-BE49-F238E27FC236}">
                <a16:creationId xmlns:a16="http://schemas.microsoft.com/office/drawing/2014/main" id="{0EE3DEC7-CF03-46A8-B043-A2A7216DA49C}"/>
              </a:ext>
            </a:extLst>
          </p:cNvPr>
          <p:cNvSpPr>
            <a:spLocks noGrp="1"/>
          </p:cNvSpPr>
          <p:nvPr/>
        </p:nvSpPr>
        <p:spPr>
          <a:xfrm>
            <a:off x="7639050" y="1381125"/>
            <a:ext cx="2476500" cy="285750"/>
          </a:xfrm>
          <a:prstGeom prst="rect">
            <a:avLst/>
          </a:prstGeom>
          <a:noFill/>
          <a:ln w="0">
            <a:noFill/>
            <a:prstDash val="solid"/>
          </a:ln>
        </p:spPr>
        <p:txBody>
          <a:bodyPr/>
          <a:lstStyle/>
          <a:p>
            <a:pPr>
              <a:defRPr sz="1350" b="1">
                <a:solidFill>
                  <a:srgbClr val="3D8DFF"/>
                </a:solidFill>
              </a:defRPr>
            </a:pPr>
            <a:r>
              <a:rPr sz="1350" b="1">
                <a:solidFill>
                  <a:srgbClr val="3D8DFF"/>
                </a:solidFill>
              </a:rPr>
              <a:t>FOOD + MEDICINE</a:t>
            </a:r>
          </a:p>
        </p:txBody>
      </p:sp>
      <p:sp>
        <p:nvSpPr>
          <p:cNvPr id="5" name="Rectangle: Rounded Corners 4">
            <a:extLst>
              <a:ext uri="{FF2B5EF4-FFF2-40B4-BE49-F238E27FC236}">
                <a16:creationId xmlns:a16="http://schemas.microsoft.com/office/drawing/2014/main" id="{AB504535-444A-4203-813E-611A9B0032C7}"/>
              </a:ext>
            </a:extLst>
          </p:cNvPr>
          <p:cNvSpPr>
            <a:spLocks noGrp="1"/>
          </p:cNvSpPr>
          <p:nvPr/>
        </p:nvSpPr>
        <p:spPr>
          <a:xfrm>
            <a:off x="7715250" y="2000250"/>
            <a:ext cx="2333625" cy="628650"/>
          </a:xfrm>
          <a:prstGeom prst="roundRect">
            <a:avLst>
              <a:gd name="adj" fmla="val 18182"/>
            </a:avLst>
          </a:prstGeom>
          <a:solidFill>
            <a:srgbClr val="FFFFFF"/>
          </a:solidFill>
          <a:ln w="11430">
            <a:solidFill>
              <a:srgbClr val="3D8DFF"/>
            </a:solidFill>
            <a:prstDash val="solid"/>
          </a:ln>
        </p:spPr>
        <p:txBody>
          <a:bodyPr/>
          <a:lstStyle/>
          <a:p>
            <a:pPr>
              <a:defRPr sz="1500" b="1">
                <a:solidFill>
                  <a:srgbClr val="111827"/>
                </a:solidFill>
              </a:defRPr>
            </a:pPr>
            <a:r>
              <a:rPr sz="1500" b="1">
                <a:solidFill>
                  <a:srgbClr val="111827"/>
                </a:solidFill>
              </a:rPr>
              <a:t>ADD PRODUCTS</a:t>
            </a:r>
          </a:p>
        </p:txBody>
      </p:sp>
      <p:sp>
        <p:nvSpPr>
          <p:cNvPr id="6" name="Rectangle: Rounded Corners 5">
            <a:extLst>
              <a:ext uri="{FF2B5EF4-FFF2-40B4-BE49-F238E27FC236}">
                <a16:creationId xmlns:a16="http://schemas.microsoft.com/office/drawing/2014/main" id="{B0B4EFC1-B546-4905-8593-2DA7732FA73B}"/>
              </a:ext>
            </a:extLst>
          </p:cNvPr>
          <p:cNvSpPr>
            <a:spLocks noGrp="1"/>
          </p:cNvSpPr>
          <p:nvPr/>
        </p:nvSpPr>
        <p:spPr>
          <a:xfrm>
            <a:off x="7715250" y="2952750"/>
            <a:ext cx="2333625" cy="628650"/>
          </a:xfrm>
          <a:prstGeom prst="roundRect">
            <a:avLst>
              <a:gd name="adj" fmla="val 18182"/>
            </a:avLst>
          </a:prstGeom>
          <a:solidFill>
            <a:srgbClr val="FFFFFF"/>
          </a:solidFill>
          <a:ln w="11430">
            <a:solidFill>
              <a:srgbClr val="3D8DFF"/>
            </a:solidFill>
            <a:prstDash val="solid"/>
          </a:ln>
        </p:spPr>
        <p:txBody>
          <a:bodyPr/>
          <a:lstStyle/>
          <a:p>
            <a:pPr>
              <a:defRPr sz="1500" b="1">
                <a:solidFill>
                  <a:srgbClr val="111827"/>
                </a:solidFill>
              </a:defRPr>
            </a:pPr>
            <a:r>
              <a:rPr sz="1500" b="1">
                <a:solidFill>
                  <a:srgbClr val="111827"/>
                </a:solidFill>
              </a:rPr>
              <a:t>TRACK EXPIRY</a:t>
            </a:r>
          </a:p>
        </p:txBody>
      </p:sp>
      <p:sp>
        <p:nvSpPr>
          <p:cNvPr id="7" name="Rectangle: Rounded Corners 6">
            <a:extLst>
              <a:ext uri="{FF2B5EF4-FFF2-40B4-BE49-F238E27FC236}">
                <a16:creationId xmlns:a16="http://schemas.microsoft.com/office/drawing/2014/main" id="{1953BF56-CB5F-47CF-9BC9-9632512C5EBD}"/>
              </a:ext>
            </a:extLst>
          </p:cNvPr>
          <p:cNvSpPr>
            <a:spLocks noGrp="1"/>
          </p:cNvSpPr>
          <p:nvPr/>
        </p:nvSpPr>
        <p:spPr>
          <a:xfrm>
            <a:off x="7715250" y="3905250"/>
            <a:ext cx="2333625" cy="628650"/>
          </a:xfrm>
          <a:prstGeom prst="roundRect">
            <a:avLst>
              <a:gd name="adj" fmla="val 18182"/>
            </a:avLst>
          </a:prstGeom>
          <a:solidFill>
            <a:srgbClr val="3D8DFF"/>
          </a:solidFill>
          <a:ln w="11430">
            <a:solidFill>
              <a:srgbClr val="3D8DFF"/>
            </a:solidFill>
            <a:prstDash val="solid"/>
          </a:ln>
        </p:spPr>
        <p:txBody>
          <a:bodyPr/>
          <a:lstStyle/>
          <a:p>
            <a:pPr>
              <a:defRPr sz="1500" b="1">
                <a:solidFill>
                  <a:srgbClr val="FFFFFF"/>
                </a:solidFill>
              </a:defRPr>
            </a:pPr>
            <a:r>
              <a:rPr sz="1500" b="1">
                <a:solidFill>
                  <a:srgbClr val="FFFFFF"/>
                </a:solidFill>
              </a:rPr>
              <a:t>GET REMINDERS</a:t>
            </a:r>
          </a:p>
        </p:txBody>
      </p:sp>
      <p:sp>
        <p:nvSpPr>
          <p:cNvPr id="8" name="Rectangle 7">
            <a:extLst>
              <a:ext uri="{FF2B5EF4-FFF2-40B4-BE49-F238E27FC236}">
                <a16:creationId xmlns:a16="http://schemas.microsoft.com/office/drawing/2014/main" id="{9278E099-8B52-403C-9658-4F0EF68390B5}"/>
              </a:ext>
            </a:extLst>
          </p:cNvPr>
          <p:cNvSpPr>
            <a:spLocks noGrp="1"/>
          </p:cNvSpPr>
          <p:nvPr/>
        </p:nvSpPr>
        <p:spPr>
          <a:xfrm>
            <a:off x="723900" y="5286375"/>
            <a:ext cx="7239000" cy="495300"/>
          </a:xfrm>
          <a:prstGeom prst="rect">
            <a:avLst/>
          </a:prstGeom>
          <a:noFill/>
          <a:ln w="0">
            <a:noFill/>
            <a:prstDash val="solid"/>
          </a:ln>
        </p:spPr>
        <p:txBody>
          <a:bodyPr/>
          <a:lstStyle/>
          <a:p>
            <a:pPr>
              <a:defRPr sz="1650" b="0">
                <a:solidFill>
                  <a:srgbClr val="4B5563"/>
                </a:solidFill>
              </a:defRPr>
            </a:pPr>
            <a:r>
              <a:rPr sz="1650" b="0">
                <a:solidFill>
                  <a:srgbClr val="4B5563"/>
                </a:solidFill>
              </a:rPr>
              <a:t>A simple system that helps households prevent unsafe use and reduce avoidable product waste.</a:t>
            </a:r>
          </a:p>
        </p:txBody>
      </p:sp>
      <p:sp>
        <p:nvSpPr>
          <p:cNvPr id="9" name="Rectangle 8">
            <a:extLst>
              <a:ext uri="{FF2B5EF4-FFF2-40B4-BE49-F238E27FC236}">
                <a16:creationId xmlns:a16="http://schemas.microsoft.com/office/drawing/2014/main" id="{C97645B9-840B-4186-B8CA-0C5486F4547A}"/>
              </a:ext>
            </a:extLst>
          </p:cNvPr>
          <p:cNvSpPr>
            <a:spLocks noGrp="1"/>
          </p:cNvSpPr>
          <p:nvPr/>
        </p:nvSpPr>
        <p:spPr>
          <a:xfrm>
            <a:off x="723900" y="6191250"/>
            <a:ext cx="2857500" cy="171450"/>
          </a:xfrm>
          <a:prstGeom prst="rect">
            <a:avLst/>
          </a:prstGeom>
          <a:noFill/>
          <a:ln w="0">
            <a:noFill/>
            <a:prstDash val="solid"/>
          </a:ln>
        </p:spPr>
        <p:txBody>
          <a:bodyPr/>
          <a:lstStyle/>
          <a:p>
            <a:pPr>
              <a:defRPr sz="975" b="1">
                <a:solidFill>
                  <a:srgbClr val="3D8DFF"/>
                </a:solidFill>
              </a:defRPr>
            </a:pPr>
            <a:r>
              <a:rPr sz="975" b="1">
                <a:solidFill>
                  <a:srgbClr val="3D8DFF"/>
                </a:solidFill>
              </a:rPr>
              <a:t>SYSTEM DESIGN PRESENTATION</a:t>
            </a:r>
          </a:p>
        </p:txBody>
      </p:sp>
    </p:spTree>
    <p:extLst>
      <p:ext uri="{BB962C8B-B14F-4D97-AF65-F5344CB8AC3E}">
        <p14:creationId xmlns:p14="http://schemas.microsoft.com/office/powerpoint/2010/main" val="1600183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850815E-F065-435A-84FB-C7B8237046F8}"/>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5DDEB605-80D3-4A21-9FF2-8854D5D8A5B2}"/>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Why the existing approach falls short</a:t>
            </a:r>
          </a:p>
        </p:txBody>
      </p:sp>
      <p:sp>
        <p:nvSpPr>
          <p:cNvPr id="3" name="Rectangle 2">
            <a:extLst>
              <a:ext uri="{FF2B5EF4-FFF2-40B4-BE49-F238E27FC236}">
                <a16:creationId xmlns:a16="http://schemas.microsoft.com/office/drawing/2014/main" id="{676939F5-0D28-4EB1-8666-EAA230BE7507}"/>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Manual checking is inconsistent, fragmented, and easy to forget.</a:t>
            </a:r>
          </a:p>
        </p:txBody>
      </p:sp>
      <p:sp>
        <p:nvSpPr>
          <p:cNvPr id="4" name="Rectangle 3">
            <a:extLst>
              <a:ext uri="{FF2B5EF4-FFF2-40B4-BE49-F238E27FC236}">
                <a16:creationId xmlns:a16="http://schemas.microsoft.com/office/drawing/2014/main" id="{131A9416-2ADD-4E58-88B0-9F3DFABE84AC}"/>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02</a:t>
            </a:r>
          </a:p>
        </p:txBody>
      </p:sp>
      <p:sp>
        <p:nvSpPr>
          <p:cNvPr id="5" name="Rectangle 4">
            <a:extLst>
              <a:ext uri="{FF2B5EF4-FFF2-40B4-BE49-F238E27FC236}">
                <a16:creationId xmlns:a16="http://schemas.microsoft.com/office/drawing/2014/main" id="{CDF4B2D8-4FC1-414A-AF94-2958555D5C08}"/>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sp>
        <p:nvSpPr>
          <p:cNvPr id="6" name="Rectangle: Rounded Corners 5">
            <a:extLst>
              <a:ext uri="{FF2B5EF4-FFF2-40B4-BE49-F238E27FC236}">
                <a16:creationId xmlns:a16="http://schemas.microsoft.com/office/drawing/2014/main" id="{19ACB35A-0618-44CC-BFF0-0D44D47C85CA}"/>
              </a:ext>
            </a:extLst>
          </p:cNvPr>
          <p:cNvSpPr>
            <a:spLocks noGrp="1"/>
          </p:cNvSpPr>
          <p:nvPr/>
        </p:nvSpPr>
        <p:spPr>
          <a:xfrm>
            <a:off x="762000" y="1952625"/>
            <a:ext cx="4857750" cy="1381125"/>
          </a:xfrm>
          <a:prstGeom prst="roundRect">
            <a:avLst>
              <a:gd name="adj" fmla="val 8276"/>
            </a:avLst>
          </a:prstGeom>
          <a:solidFill>
            <a:srgbClr val="FFFFFF"/>
          </a:solidFill>
          <a:ln w="11430">
            <a:solidFill>
              <a:srgbClr val="D1D5DB"/>
            </a:solidFill>
            <a:prstDash val="solid"/>
          </a:ln>
        </p:spPr>
      </p:sp>
      <p:sp>
        <p:nvSpPr>
          <p:cNvPr id="7" name="Rectangle 6">
            <a:extLst>
              <a:ext uri="{FF2B5EF4-FFF2-40B4-BE49-F238E27FC236}">
                <a16:creationId xmlns:a16="http://schemas.microsoft.com/office/drawing/2014/main" id="{6FDE2D6D-D638-4D79-983E-A106B65DE766}"/>
              </a:ext>
            </a:extLst>
          </p:cNvPr>
          <p:cNvSpPr>
            <a:spLocks noGrp="1"/>
          </p:cNvSpPr>
          <p:nvPr/>
        </p:nvSpPr>
        <p:spPr>
          <a:xfrm>
            <a:off x="762000" y="1952625"/>
            <a:ext cx="66675" cy="1381125"/>
          </a:xfrm>
          <a:prstGeom prst="rect">
            <a:avLst/>
          </a:prstGeom>
          <a:solidFill>
            <a:srgbClr val="3D8DFF"/>
          </a:solidFill>
          <a:ln w="11430">
            <a:solidFill>
              <a:srgbClr val="3D8DFF"/>
            </a:solidFill>
            <a:prstDash val="solid"/>
          </a:ln>
        </p:spPr>
      </p:sp>
      <p:sp>
        <p:nvSpPr>
          <p:cNvPr id="8" name="Rectangle 7">
            <a:extLst>
              <a:ext uri="{FF2B5EF4-FFF2-40B4-BE49-F238E27FC236}">
                <a16:creationId xmlns:a16="http://schemas.microsoft.com/office/drawing/2014/main" id="{1B528B7D-8058-4BBA-8403-7939182A2F04}"/>
              </a:ext>
            </a:extLst>
          </p:cNvPr>
          <p:cNvSpPr>
            <a:spLocks noGrp="1"/>
          </p:cNvSpPr>
          <p:nvPr/>
        </p:nvSpPr>
        <p:spPr>
          <a:xfrm>
            <a:off x="990600" y="2124075"/>
            <a:ext cx="4495800" cy="285750"/>
          </a:xfrm>
          <a:prstGeom prst="rect">
            <a:avLst/>
          </a:prstGeom>
          <a:noFill/>
          <a:ln w="0">
            <a:noFill/>
            <a:prstDash val="solid"/>
          </a:ln>
        </p:spPr>
        <p:txBody>
          <a:bodyPr/>
          <a:lstStyle/>
          <a:p>
            <a:pPr>
              <a:defRPr sz="1575" b="1">
                <a:solidFill>
                  <a:srgbClr val="111827"/>
                </a:solidFill>
              </a:defRPr>
            </a:pPr>
            <a:r>
              <a:rPr sz="1575" b="1">
                <a:solidFill>
                  <a:srgbClr val="111827"/>
                </a:solidFill>
              </a:rPr>
              <a:t>Memory-dependent</a:t>
            </a:r>
          </a:p>
        </p:txBody>
      </p:sp>
      <p:sp>
        <p:nvSpPr>
          <p:cNvPr id="9" name="Rectangle 8">
            <a:extLst>
              <a:ext uri="{FF2B5EF4-FFF2-40B4-BE49-F238E27FC236}">
                <a16:creationId xmlns:a16="http://schemas.microsoft.com/office/drawing/2014/main" id="{3A2514BB-08F1-4566-8307-D44504F9651B}"/>
              </a:ext>
            </a:extLst>
          </p:cNvPr>
          <p:cNvSpPr>
            <a:spLocks noGrp="1"/>
          </p:cNvSpPr>
          <p:nvPr/>
        </p:nvSpPr>
        <p:spPr>
          <a:xfrm>
            <a:off x="990600" y="2495550"/>
            <a:ext cx="4495800" cy="714375"/>
          </a:xfrm>
          <a:prstGeom prst="rect">
            <a:avLst/>
          </a:prstGeom>
          <a:noFill/>
          <a:ln w="0">
            <a:noFill/>
            <a:prstDash val="solid"/>
          </a:ln>
        </p:spPr>
        <p:txBody>
          <a:bodyPr/>
          <a:lstStyle/>
          <a:p>
            <a:pPr>
              <a:defRPr sz="1200" b="0">
                <a:solidFill>
                  <a:srgbClr val="4B5563"/>
                </a:solidFill>
              </a:defRPr>
            </a:pPr>
            <a:r>
              <a:rPr sz="1200" b="0">
                <a:solidFill>
                  <a:srgbClr val="4B5563"/>
                </a:solidFill>
              </a:rPr>
              <a:t>People must remember dates for every item.</a:t>
            </a:r>
          </a:p>
        </p:txBody>
      </p:sp>
      <p:sp>
        <p:nvSpPr>
          <p:cNvPr id="10" name="Rectangle: Rounded Corners 9">
            <a:extLst>
              <a:ext uri="{FF2B5EF4-FFF2-40B4-BE49-F238E27FC236}">
                <a16:creationId xmlns:a16="http://schemas.microsoft.com/office/drawing/2014/main" id="{07004FB7-D310-4AEE-900F-E55A4F78FA83}"/>
              </a:ext>
            </a:extLst>
          </p:cNvPr>
          <p:cNvSpPr>
            <a:spLocks noGrp="1"/>
          </p:cNvSpPr>
          <p:nvPr/>
        </p:nvSpPr>
        <p:spPr>
          <a:xfrm>
            <a:off x="6143625" y="1952625"/>
            <a:ext cx="4857750" cy="1381125"/>
          </a:xfrm>
          <a:prstGeom prst="roundRect">
            <a:avLst>
              <a:gd name="adj" fmla="val 8276"/>
            </a:avLst>
          </a:prstGeom>
          <a:solidFill>
            <a:srgbClr val="FFFFFF"/>
          </a:solidFill>
          <a:ln w="11430">
            <a:solidFill>
              <a:srgbClr val="D1D5DB"/>
            </a:solidFill>
            <a:prstDash val="solid"/>
          </a:ln>
        </p:spPr>
      </p:sp>
      <p:sp>
        <p:nvSpPr>
          <p:cNvPr id="11" name="Rectangle 10">
            <a:extLst>
              <a:ext uri="{FF2B5EF4-FFF2-40B4-BE49-F238E27FC236}">
                <a16:creationId xmlns:a16="http://schemas.microsoft.com/office/drawing/2014/main" id="{99C04276-C619-4C92-BD91-B924CCBFE081}"/>
              </a:ext>
            </a:extLst>
          </p:cNvPr>
          <p:cNvSpPr>
            <a:spLocks noGrp="1"/>
          </p:cNvSpPr>
          <p:nvPr/>
        </p:nvSpPr>
        <p:spPr>
          <a:xfrm>
            <a:off x="6143625" y="1952625"/>
            <a:ext cx="66675" cy="1381125"/>
          </a:xfrm>
          <a:prstGeom prst="rect">
            <a:avLst/>
          </a:prstGeom>
          <a:solidFill>
            <a:srgbClr val="3D8DFF"/>
          </a:solidFill>
          <a:ln w="11430">
            <a:solidFill>
              <a:srgbClr val="3D8DFF"/>
            </a:solidFill>
            <a:prstDash val="solid"/>
          </a:ln>
        </p:spPr>
      </p:sp>
      <p:sp>
        <p:nvSpPr>
          <p:cNvPr id="12" name="Rectangle 11">
            <a:extLst>
              <a:ext uri="{FF2B5EF4-FFF2-40B4-BE49-F238E27FC236}">
                <a16:creationId xmlns:a16="http://schemas.microsoft.com/office/drawing/2014/main" id="{72AE45D0-86B1-4377-AF4F-09DEF9F2694C}"/>
              </a:ext>
            </a:extLst>
          </p:cNvPr>
          <p:cNvSpPr>
            <a:spLocks noGrp="1"/>
          </p:cNvSpPr>
          <p:nvPr/>
        </p:nvSpPr>
        <p:spPr>
          <a:xfrm>
            <a:off x="6372225" y="2124075"/>
            <a:ext cx="4495800" cy="285750"/>
          </a:xfrm>
          <a:prstGeom prst="rect">
            <a:avLst/>
          </a:prstGeom>
          <a:noFill/>
          <a:ln w="0">
            <a:noFill/>
            <a:prstDash val="solid"/>
          </a:ln>
        </p:spPr>
        <p:txBody>
          <a:bodyPr/>
          <a:lstStyle/>
          <a:p>
            <a:pPr>
              <a:defRPr sz="1575" b="1">
                <a:solidFill>
                  <a:srgbClr val="111827"/>
                </a:solidFill>
              </a:defRPr>
            </a:pPr>
            <a:r>
              <a:rPr sz="1575" b="1">
                <a:solidFill>
                  <a:srgbClr val="111827"/>
                </a:solidFill>
              </a:rPr>
              <a:t>No early warning</a:t>
            </a:r>
          </a:p>
        </p:txBody>
      </p:sp>
      <p:sp>
        <p:nvSpPr>
          <p:cNvPr id="13" name="Rectangle 12">
            <a:extLst>
              <a:ext uri="{FF2B5EF4-FFF2-40B4-BE49-F238E27FC236}">
                <a16:creationId xmlns:a16="http://schemas.microsoft.com/office/drawing/2014/main" id="{2E268282-558C-40F9-97F9-C5A47C982E65}"/>
              </a:ext>
            </a:extLst>
          </p:cNvPr>
          <p:cNvSpPr>
            <a:spLocks noGrp="1"/>
          </p:cNvSpPr>
          <p:nvPr/>
        </p:nvSpPr>
        <p:spPr>
          <a:xfrm>
            <a:off x="6372225" y="2495550"/>
            <a:ext cx="4495800" cy="714375"/>
          </a:xfrm>
          <a:prstGeom prst="rect">
            <a:avLst/>
          </a:prstGeom>
          <a:noFill/>
          <a:ln w="0">
            <a:noFill/>
            <a:prstDash val="solid"/>
          </a:ln>
        </p:spPr>
        <p:txBody>
          <a:bodyPr/>
          <a:lstStyle/>
          <a:p>
            <a:pPr>
              <a:defRPr sz="1200" b="0">
                <a:solidFill>
                  <a:srgbClr val="4B5563"/>
                </a:solidFill>
              </a:defRPr>
            </a:pPr>
            <a:r>
              <a:rPr sz="1200" b="0">
                <a:solidFill>
                  <a:srgbClr val="4B5563"/>
                </a:solidFill>
              </a:rPr>
              <a:t>There are no reminders before an item expires.</a:t>
            </a:r>
          </a:p>
        </p:txBody>
      </p:sp>
      <p:sp>
        <p:nvSpPr>
          <p:cNvPr id="14" name="Rectangle: Rounded Corners 13">
            <a:extLst>
              <a:ext uri="{FF2B5EF4-FFF2-40B4-BE49-F238E27FC236}">
                <a16:creationId xmlns:a16="http://schemas.microsoft.com/office/drawing/2014/main" id="{BBFCBA90-62B7-427D-8579-1489097F5C1F}"/>
              </a:ext>
            </a:extLst>
          </p:cNvPr>
          <p:cNvSpPr>
            <a:spLocks noGrp="1"/>
          </p:cNvSpPr>
          <p:nvPr/>
        </p:nvSpPr>
        <p:spPr>
          <a:xfrm>
            <a:off x="762000" y="3762375"/>
            <a:ext cx="4857750" cy="1381125"/>
          </a:xfrm>
          <a:prstGeom prst="roundRect">
            <a:avLst>
              <a:gd name="adj" fmla="val 8276"/>
            </a:avLst>
          </a:prstGeom>
          <a:solidFill>
            <a:srgbClr val="FFFFFF"/>
          </a:solidFill>
          <a:ln w="11430">
            <a:solidFill>
              <a:srgbClr val="D1D5DB"/>
            </a:solidFill>
            <a:prstDash val="solid"/>
          </a:ln>
        </p:spPr>
      </p:sp>
      <p:sp>
        <p:nvSpPr>
          <p:cNvPr id="15" name="Rectangle 14">
            <a:extLst>
              <a:ext uri="{FF2B5EF4-FFF2-40B4-BE49-F238E27FC236}">
                <a16:creationId xmlns:a16="http://schemas.microsoft.com/office/drawing/2014/main" id="{804B451C-DE66-43ED-B95B-57D65AA080EB}"/>
              </a:ext>
            </a:extLst>
          </p:cNvPr>
          <p:cNvSpPr>
            <a:spLocks noGrp="1"/>
          </p:cNvSpPr>
          <p:nvPr/>
        </p:nvSpPr>
        <p:spPr>
          <a:xfrm>
            <a:off x="762000" y="3762375"/>
            <a:ext cx="66675" cy="1381125"/>
          </a:xfrm>
          <a:prstGeom prst="rect">
            <a:avLst/>
          </a:prstGeom>
          <a:solidFill>
            <a:srgbClr val="3D8DFF"/>
          </a:solidFill>
          <a:ln w="11430">
            <a:solidFill>
              <a:srgbClr val="3D8DFF"/>
            </a:solidFill>
            <a:prstDash val="solid"/>
          </a:ln>
        </p:spPr>
      </p:sp>
      <p:sp>
        <p:nvSpPr>
          <p:cNvPr id="16" name="Rectangle 15">
            <a:extLst>
              <a:ext uri="{FF2B5EF4-FFF2-40B4-BE49-F238E27FC236}">
                <a16:creationId xmlns:a16="http://schemas.microsoft.com/office/drawing/2014/main" id="{05A12E95-26A4-4ED9-A1C6-50053894243E}"/>
              </a:ext>
            </a:extLst>
          </p:cNvPr>
          <p:cNvSpPr>
            <a:spLocks noGrp="1"/>
          </p:cNvSpPr>
          <p:nvPr/>
        </p:nvSpPr>
        <p:spPr>
          <a:xfrm>
            <a:off x="990600" y="3933825"/>
            <a:ext cx="4495800" cy="285750"/>
          </a:xfrm>
          <a:prstGeom prst="rect">
            <a:avLst/>
          </a:prstGeom>
          <a:noFill/>
          <a:ln w="0">
            <a:noFill/>
            <a:prstDash val="solid"/>
          </a:ln>
        </p:spPr>
        <p:txBody>
          <a:bodyPr/>
          <a:lstStyle/>
          <a:p>
            <a:pPr>
              <a:defRPr sz="1575" b="1">
                <a:solidFill>
                  <a:srgbClr val="111827"/>
                </a:solidFill>
              </a:defRPr>
            </a:pPr>
            <a:r>
              <a:rPr sz="1575" b="1">
                <a:solidFill>
                  <a:srgbClr val="111827"/>
                </a:solidFill>
              </a:rPr>
              <a:t>Scattered information</a:t>
            </a:r>
          </a:p>
        </p:txBody>
      </p:sp>
      <p:sp>
        <p:nvSpPr>
          <p:cNvPr id="17" name="Rectangle 16">
            <a:extLst>
              <a:ext uri="{FF2B5EF4-FFF2-40B4-BE49-F238E27FC236}">
                <a16:creationId xmlns:a16="http://schemas.microsoft.com/office/drawing/2014/main" id="{5A58EB02-A6EA-42D3-B74E-3C35FEF61B15}"/>
              </a:ext>
            </a:extLst>
          </p:cNvPr>
          <p:cNvSpPr>
            <a:spLocks noGrp="1"/>
          </p:cNvSpPr>
          <p:nvPr/>
        </p:nvSpPr>
        <p:spPr>
          <a:xfrm>
            <a:off x="990600" y="4305300"/>
            <a:ext cx="4495800" cy="714375"/>
          </a:xfrm>
          <a:prstGeom prst="rect">
            <a:avLst/>
          </a:prstGeom>
          <a:noFill/>
          <a:ln w="0">
            <a:noFill/>
            <a:prstDash val="solid"/>
          </a:ln>
        </p:spPr>
        <p:txBody>
          <a:bodyPr/>
          <a:lstStyle/>
          <a:p>
            <a:pPr>
              <a:defRPr sz="1200" b="0">
                <a:solidFill>
                  <a:srgbClr val="4B5563"/>
                </a:solidFill>
              </a:defRPr>
            </a:pPr>
            <a:r>
              <a:rPr sz="1200" b="0">
                <a:solidFill>
                  <a:srgbClr val="4B5563"/>
                </a:solidFill>
              </a:rPr>
              <a:t>Food and medicine details are not stored in one place.</a:t>
            </a:r>
          </a:p>
        </p:txBody>
      </p:sp>
      <p:sp>
        <p:nvSpPr>
          <p:cNvPr id="18" name="Rectangle: Rounded Corners 17">
            <a:extLst>
              <a:ext uri="{FF2B5EF4-FFF2-40B4-BE49-F238E27FC236}">
                <a16:creationId xmlns:a16="http://schemas.microsoft.com/office/drawing/2014/main" id="{F152F4F9-7A91-4DCF-8EAC-8427EFCA2A6E}"/>
              </a:ext>
            </a:extLst>
          </p:cNvPr>
          <p:cNvSpPr>
            <a:spLocks noGrp="1"/>
          </p:cNvSpPr>
          <p:nvPr/>
        </p:nvSpPr>
        <p:spPr>
          <a:xfrm>
            <a:off x="6143625" y="3762375"/>
            <a:ext cx="4857750" cy="1381125"/>
          </a:xfrm>
          <a:prstGeom prst="roundRect">
            <a:avLst>
              <a:gd name="adj" fmla="val 8276"/>
            </a:avLst>
          </a:prstGeom>
          <a:solidFill>
            <a:srgbClr val="FFFFFF"/>
          </a:solidFill>
          <a:ln w="11430">
            <a:solidFill>
              <a:srgbClr val="D1D5DB"/>
            </a:solidFill>
            <a:prstDash val="solid"/>
          </a:ln>
        </p:spPr>
      </p:sp>
      <p:sp>
        <p:nvSpPr>
          <p:cNvPr id="19" name="Rectangle 18">
            <a:extLst>
              <a:ext uri="{FF2B5EF4-FFF2-40B4-BE49-F238E27FC236}">
                <a16:creationId xmlns:a16="http://schemas.microsoft.com/office/drawing/2014/main" id="{893773EF-9CFD-4287-BFCE-DD97B930F100}"/>
              </a:ext>
            </a:extLst>
          </p:cNvPr>
          <p:cNvSpPr>
            <a:spLocks noGrp="1"/>
          </p:cNvSpPr>
          <p:nvPr/>
        </p:nvSpPr>
        <p:spPr>
          <a:xfrm>
            <a:off x="6143625" y="3762375"/>
            <a:ext cx="66675" cy="1381125"/>
          </a:xfrm>
          <a:prstGeom prst="rect">
            <a:avLst/>
          </a:prstGeom>
          <a:solidFill>
            <a:srgbClr val="EF4444"/>
          </a:solidFill>
          <a:ln w="11430">
            <a:solidFill>
              <a:srgbClr val="EF4444"/>
            </a:solidFill>
            <a:prstDash val="solid"/>
          </a:ln>
        </p:spPr>
      </p:sp>
      <p:sp>
        <p:nvSpPr>
          <p:cNvPr id="20" name="Rectangle 19">
            <a:extLst>
              <a:ext uri="{FF2B5EF4-FFF2-40B4-BE49-F238E27FC236}">
                <a16:creationId xmlns:a16="http://schemas.microsoft.com/office/drawing/2014/main" id="{C673DDBD-25E6-4C1E-A237-C7865B63BB1E}"/>
              </a:ext>
            </a:extLst>
          </p:cNvPr>
          <p:cNvSpPr>
            <a:spLocks noGrp="1"/>
          </p:cNvSpPr>
          <p:nvPr/>
        </p:nvSpPr>
        <p:spPr>
          <a:xfrm>
            <a:off x="6372225" y="3933825"/>
            <a:ext cx="4495800" cy="285750"/>
          </a:xfrm>
          <a:prstGeom prst="rect">
            <a:avLst/>
          </a:prstGeom>
          <a:noFill/>
          <a:ln w="0">
            <a:noFill/>
            <a:prstDash val="solid"/>
          </a:ln>
        </p:spPr>
        <p:txBody>
          <a:bodyPr/>
          <a:lstStyle/>
          <a:p>
            <a:pPr>
              <a:defRPr sz="1575" b="1">
                <a:solidFill>
                  <a:srgbClr val="111827"/>
                </a:solidFill>
              </a:defRPr>
            </a:pPr>
            <a:r>
              <a:rPr sz="1575" b="1">
                <a:solidFill>
                  <a:srgbClr val="111827"/>
                </a:solidFill>
              </a:rPr>
              <a:t>Health and waste risk</a:t>
            </a:r>
          </a:p>
        </p:txBody>
      </p:sp>
      <p:sp>
        <p:nvSpPr>
          <p:cNvPr id="21" name="Rectangle 20">
            <a:extLst>
              <a:ext uri="{FF2B5EF4-FFF2-40B4-BE49-F238E27FC236}">
                <a16:creationId xmlns:a16="http://schemas.microsoft.com/office/drawing/2014/main" id="{5E9CD2E0-76C0-4C42-95E8-D7F5A19316F0}"/>
              </a:ext>
            </a:extLst>
          </p:cNvPr>
          <p:cNvSpPr>
            <a:spLocks noGrp="1"/>
          </p:cNvSpPr>
          <p:nvPr/>
        </p:nvSpPr>
        <p:spPr>
          <a:xfrm>
            <a:off x="6372225" y="4305300"/>
            <a:ext cx="4495800" cy="714375"/>
          </a:xfrm>
          <a:prstGeom prst="rect">
            <a:avLst/>
          </a:prstGeom>
          <a:noFill/>
          <a:ln w="0">
            <a:noFill/>
            <a:prstDash val="solid"/>
          </a:ln>
        </p:spPr>
        <p:txBody>
          <a:bodyPr/>
          <a:lstStyle/>
          <a:p>
            <a:pPr>
              <a:defRPr sz="1200" b="0">
                <a:solidFill>
                  <a:srgbClr val="4B5563"/>
                </a:solidFill>
              </a:defRPr>
            </a:pPr>
            <a:r>
              <a:rPr sz="1200" b="0">
                <a:solidFill>
                  <a:srgbClr val="4B5563"/>
                </a:solidFill>
              </a:rPr>
              <a:t>Expired items may be used or usable items discarded late.</a:t>
            </a:r>
          </a:p>
        </p:txBody>
      </p:sp>
    </p:spTree>
    <p:extLst>
      <p:ext uri="{BB962C8B-B14F-4D97-AF65-F5344CB8AC3E}">
        <p14:creationId xmlns:p14="http://schemas.microsoft.com/office/powerpoint/2010/main" val="405900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4D95CEC-433A-4E4B-9F44-BF3C4878DB28}"/>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15E8C1CB-710B-4AF6-8843-140B2F4CE701}"/>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Scope of the proposed system</a:t>
            </a:r>
          </a:p>
        </p:txBody>
      </p:sp>
      <p:sp>
        <p:nvSpPr>
          <p:cNvPr id="3" name="Rectangle 2">
            <a:extLst>
              <a:ext uri="{FF2B5EF4-FFF2-40B4-BE49-F238E27FC236}">
                <a16:creationId xmlns:a16="http://schemas.microsoft.com/office/drawing/2014/main" id="{BAD3BE2F-5116-4A3F-8CAA-CB22B84942D2}"/>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EXPIRY.ALERT centralizes product records and acts before expiry dates arrive.</a:t>
            </a:r>
          </a:p>
        </p:txBody>
      </p:sp>
      <p:sp>
        <p:nvSpPr>
          <p:cNvPr id="4" name="Rectangle 3">
            <a:extLst>
              <a:ext uri="{FF2B5EF4-FFF2-40B4-BE49-F238E27FC236}">
                <a16:creationId xmlns:a16="http://schemas.microsoft.com/office/drawing/2014/main" id="{7B8944B8-DA4C-474D-910D-3AB53AAF9715}"/>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03</a:t>
            </a:r>
          </a:p>
        </p:txBody>
      </p:sp>
      <p:sp>
        <p:nvSpPr>
          <p:cNvPr id="5" name="Rectangle 4">
            <a:extLst>
              <a:ext uri="{FF2B5EF4-FFF2-40B4-BE49-F238E27FC236}">
                <a16:creationId xmlns:a16="http://schemas.microsoft.com/office/drawing/2014/main" id="{348D5BB7-6F59-4C14-8500-8DD7078E0123}"/>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sp>
        <p:nvSpPr>
          <p:cNvPr id="6" name="Rectangle: Rounded Corners 5">
            <a:extLst>
              <a:ext uri="{FF2B5EF4-FFF2-40B4-BE49-F238E27FC236}">
                <a16:creationId xmlns:a16="http://schemas.microsoft.com/office/drawing/2014/main" id="{B037810A-91F4-4819-87C6-6BD234A987DE}"/>
              </a:ext>
            </a:extLst>
          </p:cNvPr>
          <p:cNvSpPr>
            <a:spLocks noGrp="1"/>
          </p:cNvSpPr>
          <p:nvPr/>
        </p:nvSpPr>
        <p:spPr>
          <a:xfrm>
            <a:off x="1000125" y="2381250"/>
            <a:ext cx="2000250" cy="952500"/>
          </a:xfrm>
          <a:prstGeom prst="roundRect">
            <a:avLst>
              <a:gd name="adj" fmla="val 12000"/>
            </a:avLst>
          </a:prstGeom>
          <a:solidFill>
            <a:srgbClr val="E7F3FF"/>
          </a:solidFill>
          <a:ln w="11430">
            <a:solidFill>
              <a:srgbClr val="6B7280"/>
            </a:solidFill>
            <a:prstDash val="solid"/>
          </a:ln>
        </p:spPr>
        <p:txBody>
          <a:bodyPr/>
          <a:lstStyle/>
          <a:p>
            <a:pPr>
              <a:defRPr sz="1200" b="1">
                <a:solidFill>
                  <a:srgbClr val="111827"/>
                </a:solidFill>
              </a:defRPr>
            </a:pPr>
            <a:r>
              <a:rPr sz="1200" b="1">
                <a:solidFill>
                  <a:srgbClr val="111827"/>
                </a:solidFill>
              </a:rPr>
              <a:t>Add products</a:t>
            </a:r>
          </a:p>
          <a:p>
            <a:pPr>
              <a:defRPr sz="1200" b="1">
                <a:solidFill>
                  <a:srgbClr val="111827"/>
                </a:solidFill>
              </a:defRPr>
            </a:pPr>
            <a:r>
              <a:rPr sz="1200" b="1">
                <a:solidFill>
                  <a:srgbClr val="111827"/>
                </a:solidFill>
              </a:rPr>
              <a:t>Food or medicine</a:t>
            </a:r>
          </a:p>
        </p:txBody>
      </p:sp>
      <p:sp>
        <p:nvSpPr>
          <p:cNvPr id="7" name="Rectangle: Rounded Corners 6">
            <a:extLst>
              <a:ext uri="{FF2B5EF4-FFF2-40B4-BE49-F238E27FC236}">
                <a16:creationId xmlns:a16="http://schemas.microsoft.com/office/drawing/2014/main" id="{C04E154D-01F2-4A0B-842F-1065455CC012}"/>
              </a:ext>
            </a:extLst>
          </p:cNvPr>
          <p:cNvSpPr>
            <a:spLocks noGrp="1"/>
          </p:cNvSpPr>
          <p:nvPr/>
        </p:nvSpPr>
        <p:spPr>
          <a:xfrm>
            <a:off x="3667125" y="2381250"/>
            <a:ext cx="2000250" cy="952500"/>
          </a:xfrm>
          <a:prstGeom prst="roundRect">
            <a:avLst>
              <a:gd name="adj" fmla="val 12000"/>
            </a:avLst>
          </a:prstGeom>
          <a:solidFill>
            <a:srgbClr val="FFFFFF"/>
          </a:solidFill>
          <a:ln w="11430">
            <a:solidFill>
              <a:srgbClr val="6B7280"/>
            </a:solidFill>
            <a:prstDash val="solid"/>
          </a:ln>
        </p:spPr>
        <p:txBody>
          <a:bodyPr/>
          <a:lstStyle/>
          <a:p>
            <a:pPr>
              <a:defRPr sz="1200" b="1">
                <a:solidFill>
                  <a:srgbClr val="111827"/>
                </a:solidFill>
              </a:defRPr>
            </a:pPr>
            <a:r>
              <a:rPr sz="1200" b="1">
                <a:solidFill>
                  <a:srgbClr val="111827"/>
                </a:solidFill>
              </a:rPr>
              <a:t>Store details</a:t>
            </a:r>
          </a:p>
          <a:p>
            <a:pPr>
              <a:defRPr sz="1200" b="1">
                <a:solidFill>
                  <a:srgbClr val="111827"/>
                </a:solidFill>
              </a:defRPr>
            </a:pPr>
            <a:r>
              <a:rPr sz="1200" b="1">
                <a:solidFill>
                  <a:srgbClr val="111827"/>
                </a:solidFill>
              </a:rPr>
              <a:t>Dates, quantity, category</a:t>
            </a:r>
          </a:p>
        </p:txBody>
      </p:sp>
      <p:sp>
        <p:nvSpPr>
          <p:cNvPr id="8" name="Rectangle: Rounded Corners 7">
            <a:extLst>
              <a:ext uri="{FF2B5EF4-FFF2-40B4-BE49-F238E27FC236}">
                <a16:creationId xmlns:a16="http://schemas.microsoft.com/office/drawing/2014/main" id="{2456C821-597E-41CF-A70B-42BD1C125DB6}"/>
              </a:ext>
            </a:extLst>
          </p:cNvPr>
          <p:cNvSpPr>
            <a:spLocks noGrp="1"/>
          </p:cNvSpPr>
          <p:nvPr/>
        </p:nvSpPr>
        <p:spPr>
          <a:xfrm>
            <a:off x="6334125" y="2381250"/>
            <a:ext cx="2000250" cy="952500"/>
          </a:xfrm>
          <a:prstGeom prst="roundRect">
            <a:avLst>
              <a:gd name="adj" fmla="val 12000"/>
            </a:avLst>
          </a:prstGeom>
          <a:solidFill>
            <a:srgbClr val="FFFFFF"/>
          </a:solidFill>
          <a:ln w="11430">
            <a:solidFill>
              <a:srgbClr val="6B7280"/>
            </a:solidFill>
            <a:prstDash val="solid"/>
          </a:ln>
        </p:spPr>
        <p:txBody>
          <a:bodyPr/>
          <a:lstStyle/>
          <a:p>
            <a:pPr>
              <a:defRPr sz="1200" b="1">
                <a:solidFill>
                  <a:srgbClr val="111827"/>
                </a:solidFill>
              </a:defRPr>
            </a:pPr>
            <a:r>
              <a:rPr sz="1200" b="1">
                <a:solidFill>
                  <a:srgbClr val="111827"/>
                </a:solidFill>
              </a:rPr>
              <a:t>Check expiry</a:t>
            </a:r>
          </a:p>
          <a:p>
            <a:pPr>
              <a:defRPr sz="1200" b="1">
                <a:solidFill>
                  <a:srgbClr val="111827"/>
                </a:solidFill>
              </a:defRPr>
            </a:pPr>
            <a:r>
              <a:rPr sz="1200" b="1">
                <a:solidFill>
                  <a:srgbClr val="111827"/>
                </a:solidFill>
              </a:rPr>
              <a:t>Compare against current date</a:t>
            </a:r>
          </a:p>
        </p:txBody>
      </p:sp>
      <p:sp>
        <p:nvSpPr>
          <p:cNvPr id="9" name="Rectangle: Rounded Corners 8">
            <a:extLst>
              <a:ext uri="{FF2B5EF4-FFF2-40B4-BE49-F238E27FC236}">
                <a16:creationId xmlns:a16="http://schemas.microsoft.com/office/drawing/2014/main" id="{18D43358-B1C4-40D3-8C25-2FE749683A43}"/>
              </a:ext>
            </a:extLst>
          </p:cNvPr>
          <p:cNvSpPr>
            <a:spLocks noGrp="1"/>
          </p:cNvSpPr>
          <p:nvPr/>
        </p:nvSpPr>
        <p:spPr>
          <a:xfrm>
            <a:off x="9001125" y="2381250"/>
            <a:ext cx="2000250" cy="952500"/>
          </a:xfrm>
          <a:prstGeom prst="roundRect">
            <a:avLst>
              <a:gd name="adj" fmla="val 12000"/>
            </a:avLst>
          </a:prstGeom>
          <a:solidFill>
            <a:srgbClr val="E7F3FF"/>
          </a:solidFill>
          <a:ln w="11430">
            <a:solidFill>
              <a:srgbClr val="6B7280"/>
            </a:solidFill>
            <a:prstDash val="solid"/>
          </a:ln>
        </p:spPr>
        <p:txBody>
          <a:bodyPr/>
          <a:lstStyle/>
          <a:p>
            <a:pPr>
              <a:defRPr sz="1200" b="1">
                <a:solidFill>
                  <a:srgbClr val="111827"/>
                </a:solidFill>
              </a:defRPr>
            </a:pPr>
            <a:r>
              <a:rPr sz="1200" b="1">
                <a:solidFill>
                  <a:srgbClr val="111827"/>
                </a:solidFill>
              </a:rPr>
              <a:t>Send alerts</a:t>
            </a:r>
          </a:p>
          <a:p>
            <a:pPr>
              <a:defRPr sz="1200" b="1">
                <a:solidFill>
                  <a:srgbClr val="111827"/>
                </a:solidFill>
              </a:defRPr>
            </a:pPr>
            <a:r>
              <a:rPr sz="1200" b="1">
                <a:solidFill>
                  <a:srgbClr val="111827"/>
                </a:solidFill>
              </a:rPr>
              <a:t>Upcoming or expired items</a:t>
            </a:r>
          </a:p>
        </p:txBody>
      </p:sp>
      <p:cxnSp>
        <p:nvCxnSpPr>
          <p:cNvPr id="23" name="Straight Arrow Connector 22"/>
          <p:cNvCxnSpPr>
            <a:stCxn id="6" idx="3"/>
            <a:endCxn id="7" idx="1"/>
          </p:cNvCxnSpPr>
          <p:nvPr/>
        </p:nvCxnSpPr>
        <p:spPr>
          <a:xfrm>
            <a:off x="3000375" y="2857500"/>
            <a:ext cx="666750" cy="0"/>
          </a:xfrm>
          <a:prstGeom prst="straightConnector1">
            <a:avLst/>
          </a:prstGeom>
          <a:ln w="15240">
            <a:solidFill>
              <a:srgbClr val="6B7280"/>
            </a:solidFill>
            <a:prstDash val="solid"/>
            <a:tailEnd type="arrow" w="sm" len="sm"/>
          </a:ln>
        </p:spPr>
      </p:cxnSp>
      <p:cxnSp>
        <p:nvCxnSpPr>
          <p:cNvPr id="24" name="Straight Arrow Connector 23"/>
          <p:cNvCxnSpPr>
            <a:stCxn id="7" idx="3"/>
            <a:endCxn id="8" idx="1"/>
          </p:cNvCxnSpPr>
          <p:nvPr/>
        </p:nvCxnSpPr>
        <p:spPr>
          <a:xfrm>
            <a:off x="5667375" y="2857500"/>
            <a:ext cx="666750" cy="0"/>
          </a:xfrm>
          <a:prstGeom prst="straightConnector1">
            <a:avLst/>
          </a:prstGeom>
          <a:ln w="15240">
            <a:solidFill>
              <a:srgbClr val="6B7280"/>
            </a:solidFill>
            <a:prstDash val="solid"/>
            <a:tailEnd type="arrow" w="sm" len="sm"/>
          </a:ln>
        </p:spPr>
      </p:cxnSp>
      <p:cxnSp>
        <p:nvCxnSpPr>
          <p:cNvPr id="25" name="Straight Arrow Connector 24"/>
          <p:cNvCxnSpPr>
            <a:stCxn id="8" idx="3"/>
            <a:endCxn id="9" idx="1"/>
          </p:cNvCxnSpPr>
          <p:nvPr/>
        </p:nvCxnSpPr>
        <p:spPr>
          <a:xfrm>
            <a:off x="8334375" y="2857500"/>
            <a:ext cx="666750" cy="0"/>
          </a:xfrm>
          <a:prstGeom prst="straightConnector1">
            <a:avLst/>
          </a:prstGeom>
          <a:ln w="15240">
            <a:solidFill>
              <a:srgbClr val="6B7280"/>
            </a:solidFill>
            <a:prstDash val="solid"/>
            <a:tailEnd type="arrow" w="sm" len="sm"/>
          </a:ln>
        </p:spPr>
      </p:cxnSp>
      <p:sp>
        <p:nvSpPr>
          <p:cNvPr id="13" name="Rectangle 12">
            <a:extLst>
              <a:ext uri="{FF2B5EF4-FFF2-40B4-BE49-F238E27FC236}">
                <a16:creationId xmlns:a16="http://schemas.microsoft.com/office/drawing/2014/main" id="{925C7919-EA66-4D57-BB7C-E63010521275}"/>
              </a:ext>
            </a:extLst>
          </p:cNvPr>
          <p:cNvSpPr>
            <a:spLocks noGrp="1"/>
          </p:cNvSpPr>
          <p:nvPr/>
        </p:nvSpPr>
        <p:spPr>
          <a:xfrm>
            <a:off x="1000125" y="3606805"/>
            <a:ext cx="9525000" cy="1393820"/>
          </a:xfrm>
          <a:prstGeom prst="rect">
            <a:avLst/>
          </a:prstGeom>
          <a:noFill/>
          <a:ln w="0">
            <a:noFill/>
            <a:prstDash val="solid"/>
          </a:ln>
        </p:spPr>
        <p:txBody>
          <a:bodyPr/>
          <a:lstStyle/>
          <a:p>
            <a:pPr>
              <a:defRPr sz="1500" b="0">
                <a:solidFill>
                  <a:srgbClr val="4B5563"/>
                </a:solidFill>
              </a:defRPr>
            </a:pPr>
            <a:r>
              <a:rPr lang="en-IN" sz="2000" dirty="0"/>
              <a:t>The EXPIRY.ALERT system is here to help people keep track of when their food and medicine expire. With EXPIRY.ALERT users can add details about their products look at the expiry dates and get warnings before they expire. EXPIRY.ALERT helps reduce waste makes things safer and makes it easy to keep track of everything. EXPIRY.ALERT can be really useful for people at home for stores and for small </a:t>
            </a:r>
            <a:r>
              <a:rPr lang="en-IN" sz="2000" dirty="0" err="1"/>
              <a:t>businesses.In</a:t>
            </a:r>
            <a:r>
              <a:rPr lang="en-IN" sz="2000" dirty="0"/>
              <a:t> the future, more features like barcode scanning, QR code scanning, and image-based expiry date detection can be added. The system can also generate monthly reports of expired and upcoming expiry items. It can be used on both mobile phones and computers, making it more convenient for users to manage their products anytime and anywhere.</a:t>
            </a:r>
            <a:endParaRPr lang="en-US" sz="2000" dirty="0"/>
          </a:p>
          <a:p>
            <a:pPr>
              <a:defRPr sz="1500" b="0">
                <a:solidFill>
                  <a:srgbClr val="4B5563"/>
                </a:solidFill>
              </a:defRPr>
            </a:pPr>
            <a:endParaRPr sz="1500" b="0" dirty="0">
              <a:solidFill>
                <a:srgbClr val="4B5563"/>
              </a:solidFill>
            </a:endParaRPr>
          </a:p>
        </p:txBody>
      </p:sp>
    </p:spTree>
    <p:extLst>
      <p:ext uri="{BB962C8B-B14F-4D97-AF65-F5344CB8AC3E}">
        <p14:creationId xmlns:p14="http://schemas.microsoft.com/office/powerpoint/2010/main" val="1570171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C464C62-1CDD-48A3-ABB3-0073618F4465}"/>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6E780611-9ED5-4169-A423-479CBFF90232}"/>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Requirements define a secure, useful, and dependable system</a:t>
            </a:r>
          </a:p>
        </p:txBody>
      </p:sp>
      <p:sp>
        <p:nvSpPr>
          <p:cNvPr id="3" name="Rectangle 2">
            <a:extLst>
              <a:ext uri="{FF2B5EF4-FFF2-40B4-BE49-F238E27FC236}">
                <a16:creationId xmlns:a16="http://schemas.microsoft.com/office/drawing/2014/main" id="{C55B32C3-63FA-46E8-8AE9-335C94A732F3}"/>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04</a:t>
            </a:r>
          </a:p>
        </p:txBody>
      </p:sp>
      <p:sp>
        <p:nvSpPr>
          <p:cNvPr id="4" name="Rectangle 3">
            <a:extLst>
              <a:ext uri="{FF2B5EF4-FFF2-40B4-BE49-F238E27FC236}">
                <a16:creationId xmlns:a16="http://schemas.microsoft.com/office/drawing/2014/main" id="{6D68BEEB-1566-4083-BF89-30BF408C8878}"/>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sp>
        <p:nvSpPr>
          <p:cNvPr id="5" name="Rectangle: Rounded Corners 4">
            <a:extLst>
              <a:ext uri="{FF2B5EF4-FFF2-40B4-BE49-F238E27FC236}">
                <a16:creationId xmlns:a16="http://schemas.microsoft.com/office/drawing/2014/main" id="{886852A0-C2A0-410D-A2CA-2B3DAF1AC63A}"/>
              </a:ext>
            </a:extLst>
          </p:cNvPr>
          <p:cNvSpPr>
            <a:spLocks noGrp="1"/>
          </p:cNvSpPr>
          <p:nvPr/>
        </p:nvSpPr>
        <p:spPr>
          <a:xfrm>
            <a:off x="857250" y="1952625"/>
            <a:ext cx="4762500" cy="3143250"/>
          </a:xfrm>
          <a:prstGeom prst="roundRect">
            <a:avLst>
              <a:gd name="adj" fmla="val 3636"/>
            </a:avLst>
          </a:prstGeom>
          <a:solidFill>
            <a:srgbClr val="FFFFFF"/>
          </a:solidFill>
          <a:ln w="11430">
            <a:solidFill>
              <a:srgbClr val="D1D5DB"/>
            </a:solidFill>
            <a:prstDash val="solid"/>
          </a:ln>
        </p:spPr>
      </p:sp>
      <p:sp>
        <p:nvSpPr>
          <p:cNvPr id="6" name="Rectangle 5">
            <a:extLst>
              <a:ext uri="{FF2B5EF4-FFF2-40B4-BE49-F238E27FC236}">
                <a16:creationId xmlns:a16="http://schemas.microsoft.com/office/drawing/2014/main" id="{0B332484-8334-4C9D-A658-72E1F4037B03}"/>
              </a:ext>
            </a:extLst>
          </p:cNvPr>
          <p:cNvSpPr>
            <a:spLocks noGrp="1"/>
          </p:cNvSpPr>
          <p:nvPr/>
        </p:nvSpPr>
        <p:spPr>
          <a:xfrm>
            <a:off x="857250" y="1952625"/>
            <a:ext cx="66675" cy="3143250"/>
          </a:xfrm>
          <a:prstGeom prst="rect">
            <a:avLst/>
          </a:prstGeom>
          <a:solidFill>
            <a:srgbClr val="3D8DFF"/>
          </a:solidFill>
          <a:ln w="11430">
            <a:solidFill>
              <a:srgbClr val="3D8DFF"/>
            </a:solidFill>
            <a:prstDash val="solid"/>
          </a:ln>
        </p:spPr>
      </p:sp>
      <p:sp>
        <p:nvSpPr>
          <p:cNvPr id="7" name="Rectangle 6">
            <a:extLst>
              <a:ext uri="{FF2B5EF4-FFF2-40B4-BE49-F238E27FC236}">
                <a16:creationId xmlns:a16="http://schemas.microsoft.com/office/drawing/2014/main" id="{E3289A0A-0658-42BF-960C-10D63542A02F}"/>
              </a:ext>
            </a:extLst>
          </p:cNvPr>
          <p:cNvSpPr>
            <a:spLocks noGrp="1"/>
          </p:cNvSpPr>
          <p:nvPr/>
        </p:nvSpPr>
        <p:spPr>
          <a:xfrm>
            <a:off x="1085850" y="2124075"/>
            <a:ext cx="4400550" cy="285750"/>
          </a:xfrm>
          <a:prstGeom prst="rect">
            <a:avLst/>
          </a:prstGeom>
          <a:noFill/>
          <a:ln w="0">
            <a:noFill/>
            <a:prstDash val="solid"/>
          </a:ln>
        </p:spPr>
        <p:txBody>
          <a:bodyPr/>
          <a:lstStyle/>
          <a:p>
            <a:pPr>
              <a:defRPr sz="1575" b="1">
                <a:solidFill>
                  <a:srgbClr val="111827"/>
                </a:solidFill>
              </a:defRPr>
            </a:pPr>
            <a:r>
              <a:rPr sz="2400" b="1" dirty="0">
                <a:solidFill>
                  <a:srgbClr val="111827"/>
                </a:solidFill>
              </a:rPr>
              <a:t>Functional requirements</a:t>
            </a:r>
          </a:p>
        </p:txBody>
      </p:sp>
      <p:sp>
        <p:nvSpPr>
          <p:cNvPr id="8" name="Rectangle 7">
            <a:extLst>
              <a:ext uri="{FF2B5EF4-FFF2-40B4-BE49-F238E27FC236}">
                <a16:creationId xmlns:a16="http://schemas.microsoft.com/office/drawing/2014/main" id="{699A837D-4CDE-4E1D-A4F3-4C0774B75FAB}"/>
              </a:ext>
            </a:extLst>
          </p:cNvPr>
          <p:cNvSpPr>
            <a:spLocks noGrp="1"/>
          </p:cNvSpPr>
          <p:nvPr/>
        </p:nvSpPr>
        <p:spPr>
          <a:xfrm>
            <a:off x="1085850" y="2495550"/>
            <a:ext cx="4400550" cy="2476500"/>
          </a:xfrm>
          <a:prstGeom prst="rect">
            <a:avLst/>
          </a:prstGeom>
          <a:noFill/>
          <a:ln w="0">
            <a:noFill/>
            <a:prstDash val="solid"/>
          </a:ln>
        </p:spPr>
        <p:txBody>
          <a:bodyPr/>
          <a:lstStyle/>
          <a:p>
            <a:pPr>
              <a:defRPr sz="1200" b="0">
                <a:solidFill>
                  <a:srgbClr val="4B5563"/>
                </a:solidFill>
              </a:defRPr>
            </a:pPr>
            <a:endParaRPr lang="en-US" sz="1200" b="0" dirty="0">
              <a:solidFill>
                <a:srgbClr val="4B5563"/>
              </a:solidFill>
            </a:endParaRPr>
          </a:p>
          <a:p>
            <a:pPr>
              <a:defRPr sz="1200" b="0">
                <a:solidFill>
                  <a:srgbClr val="4B5563"/>
                </a:solidFill>
              </a:defRPr>
            </a:pPr>
            <a:endParaRPr lang="en-US" sz="1200" dirty="0">
              <a:solidFill>
                <a:srgbClr val="4B5563"/>
              </a:solidFill>
            </a:endParaRPr>
          </a:p>
          <a:p>
            <a:pPr>
              <a:defRPr sz="1200" b="0">
                <a:solidFill>
                  <a:srgbClr val="4B5563"/>
                </a:solidFill>
              </a:defRPr>
            </a:pPr>
            <a:r>
              <a:rPr sz="2000" b="0" dirty="0">
                <a:solidFill>
                  <a:srgbClr val="4B5563"/>
                </a:solidFill>
              </a:rPr>
              <a:t>• Register and log in</a:t>
            </a:r>
          </a:p>
          <a:p>
            <a:pPr>
              <a:defRPr sz="1200" b="0">
                <a:solidFill>
                  <a:srgbClr val="4B5563"/>
                </a:solidFill>
              </a:defRPr>
            </a:pPr>
            <a:r>
              <a:rPr sz="2000" b="0" dirty="0">
                <a:solidFill>
                  <a:srgbClr val="4B5563"/>
                </a:solidFill>
              </a:rPr>
              <a:t>• Add, edit, and delete products</a:t>
            </a:r>
          </a:p>
          <a:p>
            <a:pPr>
              <a:defRPr sz="1200" b="0">
                <a:solidFill>
                  <a:srgbClr val="4B5563"/>
                </a:solidFill>
              </a:defRPr>
            </a:pPr>
            <a:r>
              <a:rPr sz="2000" b="0" dirty="0">
                <a:solidFill>
                  <a:srgbClr val="4B5563"/>
                </a:solidFill>
              </a:rPr>
              <a:t>• Store expiry dates</a:t>
            </a:r>
          </a:p>
          <a:p>
            <a:pPr>
              <a:defRPr sz="1200" b="0">
                <a:solidFill>
                  <a:srgbClr val="4B5563"/>
                </a:solidFill>
              </a:defRPr>
            </a:pPr>
            <a:r>
              <a:rPr sz="2000" b="0" dirty="0">
                <a:solidFill>
                  <a:srgbClr val="4B5563"/>
                </a:solidFill>
              </a:rPr>
              <a:t>• Send reminders</a:t>
            </a:r>
          </a:p>
          <a:p>
            <a:pPr>
              <a:defRPr sz="1200" b="0">
                <a:solidFill>
                  <a:srgbClr val="4B5563"/>
                </a:solidFill>
              </a:defRPr>
            </a:pPr>
            <a:r>
              <a:rPr sz="2000" b="0" dirty="0">
                <a:solidFill>
                  <a:srgbClr val="4B5563"/>
                </a:solidFill>
              </a:rPr>
              <a:t>• Show upcoming and expired items</a:t>
            </a:r>
          </a:p>
        </p:txBody>
      </p:sp>
      <p:sp>
        <p:nvSpPr>
          <p:cNvPr id="9" name="Rectangle: Rounded Corners 8">
            <a:extLst>
              <a:ext uri="{FF2B5EF4-FFF2-40B4-BE49-F238E27FC236}">
                <a16:creationId xmlns:a16="http://schemas.microsoft.com/office/drawing/2014/main" id="{502B621D-0B23-473A-B404-AE483513F5C8}"/>
              </a:ext>
            </a:extLst>
          </p:cNvPr>
          <p:cNvSpPr>
            <a:spLocks noGrp="1"/>
          </p:cNvSpPr>
          <p:nvPr/>
        </p:nvSpPr>
        <p:spPr>
          <a:xfrm>
            <a:off x="6743700" y="1952625"/>
            <a:ext cx="4762500" cy="3143250"/>
          </a:xfrm>
          <a:prstGeom prst="roundRect">
            <a:avLst>
              <a:gd name="adj" fmla="val 3636"/>
            </a:avLst>
          </a:prstGeom>
          <a:solidFill>
            <a:srgbClr val="FFFFFF"/>
          </a:solidFill>
          <a:ln w="11430">
            <a:solidFill>
              <a:srgbClr val="D1D5DB"/>
            </a:solidFill>
            <a:prstDash val="solid"/>
          </a:ln>
        </p:spPr>
      </p:sp>
      <p:sp>
        <p:nvSpPr>
          <p:cNvPr id="10" name="Rectangle 9">
            <a:extLst>
              <a:ext uri="{FF2B5EF4-FFF2-40B4-BE49-F238E27FC236}">
                <a16:creationId xmlns:a16="http://schemas.microsoft.com/office/drawing/2014/main" id="{AA0F572B-8E78-4FD7-8C4E-1E75B495C6F1}"/>
              </a:ext>
            </a:extLst>
          </p:cNvPr>
          <p:cNvSpPr>
            <a:spLocks noGrp="1"/>
          </p:cNvSpPr>
          <p:nvPr/>
        </p:nvSpPr>
        <p:spPr>
          <a:xfrm>
            <a:off x="6572250" y="1952625"/>
            <a:ext cx="66675" cy="3143250"/>
          </a:xfrm>
          <a:prstGeom prst="rect">
            <a:avLst/>
          </a:prstGeom>
          <a:solidFill>
            <a:srgbClr val="14B8A6"/>
          </a:solidFill>
          <a:ln w="11430">
            <a:solidFill>
              <a:srgbClr val="14B8A6"/>
            </a:solidFill>
            <a:prstDash val="solid"/>
          </a:ln>
        </p:spPr>
      </p:sp>
      <p:sp>
        <p:nvSpPr>
          <p:cNvPr id="11" name="Rectangle 10">
            <a:extLst>
              <a:ext uri="{FF2B5EF4-FFF2-40B4-BE49-F238E27FC236}">
                <a16:creationId xmlns:a16="http://schemas.microsoft.com/office/drawing/2014/main" id="{1088A5D6-1C36-4841-BF1E-546B995F530A}"/>
              </a:ext>
            </a:extLst>
          </p:cNvPr>
          <p:cNvSpPr>
            <a:spLocks noGrp="1"/>
          </p:cNvSpPr>
          <p:nvPr/>
        </p:nvSpPr>
        <p:spPr>
          <a:xfrm>
            <a:off x="6800850" y="2124075"/>
            <a:ext cx="4400550" cy="285750"/>
          </a:xfrm>
          <a:prstGeom prst="rect">
            <a:avLst/>
          </a:prstGeom>
          <a:noFill/>
          <a:ln w="0">
            <a:noFill/>
            <a:prstDash val="solid"/>
          </a:ln>
        </p:spPr>
        <p:txBody>
          <a:bodyPr/>
          <a:lstStyle/>
          <a:p>
            <a:pPr>
              <a:defRPr sz="1575" b="1">
                <a:solidFill>
                  <a:srgbClr val="111827"/>
                </a:solidFill>
              </a:defRPr>
            </a:pPr>
            <a:r>
              <a:rPr sz="2400" b="1" dirty="0">
                <a:solidFill>
                  <a:srgbClr val="111827"/>
                </a:solidFill>
              </a:rPr>
              <a:t>Non-functional requirements</a:t>
            </a:r>
          </a:p>
        </p:txBody>
      </p:sp>
      <p:sp>
        <p:nvSpPr>
          <p:cNvPr id="12" name="Rectangle 11">
            <a:extLst>
              <a:ext uri="{FF2B5EF4-FFF2-40B4-BE49-F238E27FC236}">
                <a16:creationId xmlns:a16="http://schemas.microsoft.com/office/drawing/2014/main" id="{EB45E339-73CA-493A-A8FF-7F876009E819}"/>
              </a:ext>
            </a:extLst>
          </p:cNvPr>
          <p:cNvSpPr>
            <a:spLocks noGrp="1"/>
          </p:cNvSpPr>
          <p:nvPr/>
        </p:nvSpPr>
        <p:spPr>
          <a:xfrm>
            <a:off x="6800850" y="2495550"/>
            <a:ext cx="4400550" cy="2476500"/>
          </a:xfrm>
          <a:prstGeom prst="rect">
            <a:avLst/>
          </a:prstGeom>
          <a:noFill/>
          <a:ln w="0">
            <a:noFill/>
            <a:prstDash val="solid"/>
          </a:ln>
        </p:spPr>
        <p:txBody>
          <a:bodyPr/>
          <a:lstStyle/>
          <a:p>
            <a:pPr>
              <a:defRPr sz="1200" b="0">
                <a:solidFill>
                  <a:srgbClr val="4B5563"/>
                </a:solidFill>
              </a:defRPr>
            </a:pPr>
            <a:endParaRPr lang="en-US" sz="1200" b="0" dirty="0">
              <a:solidFill>
                <a:srgbClr val="4B5563"/>
              </a:solidFill>
            </a:endParaRPr>
          </a:p>
          <a:p>
            <a:pPr>
              <a:defRPr sz="1200" b="0">
                <a:solidFill>
                  <a:srgbClr val="4B5563"/>
                </a:solidFill>
              </a:defRPr>
            </a:pPr>
            <a:endParaRPr lang="en-US" sz="1200" dirty="0">
              <a:solidFill>
                <a:srgbClr val="4B5563"/>
              </a:solidFill>
            </a:endParaRPr>
          </a:p>
          <a:p>
            <a:pPr>
              <a:defRPr sz="1200" b="0">
                <a:solidFill>
                  <a:srgbClr val="4B5563"/>
                </a:solidFill>
              </a:defRPr>
            </a:pPr>
            <a:r>
              <a:rPr sz="2000" b="0" dirty="0">
                <a:solidFill>
                  <a:srgbClr val="4B5563"/>
                </a:solidFill>
              </a:rPr>
              <a:t>• Easy to use</a:t>
            </a:r>
          </a:p>
          <a:p>
            <a:pPr>
              <a:defRPr sz="1200" b="0">
                <a:solidFill>
                  <a:srgbClr val="4B5563"/>
                </a:solidFill>
              </a:defRPr>
            </a:pPr>
            <a:r>
              <a:rPr sz="2000" b="0" dirty="0">
                <a:solidFill>
                  <a:srgbClr val="4B5563"/>
                </a:solidFill>
              </a:rPr>
              <a:t>• Fast performance</a:t>
            </a:r>
          </a:p>
          <a:p>
            <a:pPr>
              <a:defRPr sz="1200" b="0">
                <a:solidFill>
                  <a:srgbClr val="4B5563"/>
                </a:solidFill>
              </a:defRPr>
            </a:pPr>
            <a:r>
              <a:rPr sz="2000" b="0" dirty="0">
                <a:solidFill>
                  <a:srgbClr val="4B5563"/>
                </a:solidFill>
              </a:rPr>
              <a:t>• Secure user data</a:t>
            </a:r>
          </a:p>
          <a:p>
            <a:pPr>
              <a:defRPr sz="1200" b="0">
                <a:solidFill>
                  <a:srgbClr val="4B5563"/>
                </a:solidFill>
              </a:defRPr>
            </a:pPr>
            <a:r>
              <a:rPr sz="2000" b="0" dirty="0">
                <a:solidFill>
                  <a:srgbClr val="4B5563"/>
                </a:solidFill>
              </a:rPr>
              <a:t>• Works across devices and browsers</a:t>
            </a:r>
          </a:p>
          <a:p>
            <a:pPr>
              <a:defRPr sz="1200" b="0">
                <a:solidFill>
                  <a:srgbClr val="4B5563"/>
                </a:solidFill>
              </a:defRPr>
            </a:pPr>
            <a:r>
              <a:rPr sz="2000" b="0" dirty="0">
                <a:solidFill>
                  <a:srgbClr val="4B5563"/>
                </a:solidFill>
              </a:rPr>
              <a:t>• Reliable and maintainable</a:t>
            </a:r>
          </a:p>
        </p:txBody>
      </p:sp>
    </p:spTree>
    <p:extLst>
      <p:ext uri="{BB962C8B-B14F-4D97-AF65-F5344CB8AC3E}">
        <p14:creationId xmlns:p14="http://schemas.microsoft.com/office/powerpoint/2010/main" val="441420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48211B0-7589-42E3-8AFB-B2EABE36C8C3}"/>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775135DA-D1E2-4071-9F74-A5732CDCB617}"/>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ER diagram: users own products; products create reminders</a:t>
            </a:r>
          </a:p>
        </p:txBody>
      </p:sp>
      <p:sp>
        <p:nvSpPr>
          <p:cNvPr id="3" name="Rectangle 2">
            <a:extLst>
              <a:ext uri="{FF2B5EF4-FFF2-40B4-BE49-F238E27FC236}">
                <a16:creationId xmlns:a16="http://schemas.microsoft.com/office/drawing/2014/main" id="{5E153A70-A863-4E06-B0DC-255AF7EDE275}"/>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Core database relationships for expiry tracking.</a:t>
            </a:r>
          </a:p>
        </p:txBody>
      </p:sp>
      <p:sp>
        <p:nvSpPr>
          <p:cNvPr id="4" name="Rectangle 3">
            <a:extLst>
              <a:ext uri="{FF2B5EF4-FFF2-40B4-BE49-F238E27FC236}">
                <a16:creationId xmlns:a16="http://schemas.microsoft.com/office/drawing/2014/main" id="{E02673A2-309C-4C26-B46E-6840A58BC4E0}"/>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05</a:t>
            </a:r>
          </a:p>
        </p:txBody>
      </p:sp>
      <p:sp>
        <p:nvSpPr>
          <p:cNvPr id="5" name="Rectangle 4">
            <a:extLst>
              <a:ext uri="{FF2B5EF4-FFF2-40B4-BE49-F238E27FC236}">
                <a16:creationId xmlns:a16="http://schemas.microsoft.com/office/drawing/2014/main" id="{26E10DB6-ED06-4577-AF7F-A1273F6E4823}"/>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pic>
        <p:nvPicPr>
          <p:cNvPr id="19" name="Picture 18">
            <a:extLst>
              <a:ext uri="{FF2B5EF4-FFF2-40B4-BE49-F238E27FC236}">
                <a16:creationId xmlns:a16="http://schemas.microsoft.com/office/drawing/2014/main" id="{7CB87217-2780-605C-F5DA-40FB10194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19299"/>
            <a:ext cx="9618133" cy="4468283"/>
          </a:xfrm>
          <a:prstGeom prst="roundRect">
            <a:avLst>
              <a:gd name="adj" fmla="val 4167"/>
            </a:avLst>
          </a:prstGeom>
          <a:solidFill>
            <a:srgbClr val="FFFFFF"/>
          </a:solidFill>
          <a:ln w="76200" cap="sq">
            <a:no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09958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C3DC555-58E6-4874-AC59-60D5692263F4}"/>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22B72FC3-6CDA-4AFA-85BF-5320EC540AF3}"/>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Class and object diagram: the system manages three core objects</a:t>
            </a:r>
          </a:p>
        </p:txBody>
      </p:sp>
      <p:sp>
        <p:nvSpPr>
          <p:cNvPr id="3" name="Rectangle 2">
            <a:extLst>
              <a:ext uri="{FF2B5EF4-FFF2-40B4-BE49-F238E27FC236}">
                <a16:creationId xmlns:a16="http://schemas.microsoft.com/office/drawing/2014/main" id="{B1C97134-F2F7-4DD2-A4D7-AFB1B02086DC}"/>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Each class maps directly to a database entity and its behavior.</a:t>
            </a:r>
          </a:p>
        </p:txBody>
      </p:sp>
      <p:sp>
        <p:nvSpPr>
          <p:cNvPr id="4" name="Rectangle 3">
            <a:extLst>
              <a:ext uri="{FF2B5EF4-FFF2-40B4-BE49-F238E27FC236}">
                <a16:creationId xmlns:a16="http://schemas.microsoft.com/office/drawing/2014/main" id="{29391F1A-FD85-48DA-AA39-72B77D4BF3F5}"/>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06</a:t>
            </a:r>
          </a:p>
        </p:txBody>
      </p:sp>
      <p:sp>
        <p:nvSpPr>
          <p:cNvPr id="5" name="Rectangle 4">
            <a:extLst>
              <a:ext uri="{FF2B5EF4-FFF2-40B4-BE49-F238E27FC236}">
                <a16:creationId xmlns:a16="http://schemas.microsoft.com/office/drawing/2014/main" id="{9ABA1E1D-E8B8-4FE4-A0AB-5904FDB5CF02}"/>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pic>
        <p:nvPicPr>
          <p:cNvPr id="16" name="Picture 15">
            <a:extLst>
              <a:ext uri="{FF2B5EF4-FFF2-40B4-BE49-F238E27FC236}">
                <a16:creationId xmlns:a16="http://schemas.microsoft.com/office/drawing/2014/main" id="{158FA3C8-57AC-17C8-01E6-EE1E0A354A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6435" y="1992310"/>
            <a:ext cx="5842000" cy="37607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Picture 17">
            <a:extLst>
              <a:ext uri="{FF2B5EF4-FFF2-40B4-BE49-F238E27FC236}">
                <a16:creationId xmlns:a16="http://schemas.microsoft.com/office/drawing/2014/main" id="{B009E0AC-6764-58AF-3309-C6F11E6913AD}"/>
              </a:ext>
            </a:extLst>
          </p:cNvPr>
          <p:cNvPicPr>
            <a:picLocks noChangeAspect="1"/>
          </p:cNvPicPr>
          <p:nvPr/>
        </p:nvPicPr>
        <p:blipFill>
          <a:blip r:embed="rId4"/>
          <a:stretch>
            <a:fillRect/>
          </a:stretch>
        </p:blipFill>
        <p:spPr>
          <a:xfrm>
            <a:off x="173565" y="2019300"/>
            <a:ext cx="5754462" cy="3970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07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DEFAEB5-1D52-4995-9F1C-151CECBAF692}"/>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EE224AA6-B87D-40D3-AC19-73A8A8D41D79}"/>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Use-case diagram: users manage products and receive alerts</a:t>
            </a:r>
          </a:p>
        </p:txBody>
      </p:sp>
      <p:sp>
        <p:nvSpPr>
          <p:cNvPr id="3" name="Rectangle 2">
            <a:extLst>
              <a:ext uri="{FF2B5EF4-FFF2-40B4-BE49-F238E27FC236}">
                <a16:creationId xmlns:a16="http://schemas.microsoft.com/office/drawing/2014/main" id="{E7E75D46-EE7A-4AF4-B475-7C6AE7142B87}"/>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The administrator maintains the user and system data.</a:t>
            </a:r>
          </a:p>
        </p:txBody>
      </p:sp>
      <p:sp>
        <p:nvSpPr>
          <p:cNvPr id="4" name="Rectangle 3">
            <a:extLst>
              <a:ext uri="{FF2B5EF4-FFF2-40B4-BE49-F238E27FC236}">
                <a16:creationId xmlns:a16="http://schemas.microsoft.com/office/drawing/2014/main" id="{67EEA9C2-20FF-4FF6-B488-80AE711203FC}"/>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07</a:t>
            </a:r>
          </a:p>
        </p:txBody>
      </p:sp>
      <p:sp>
        <p:nvSpPr>
          <p:cNvPr id="5" name="Rectangle 4">
            <a:extLst>
              <a:ext uri="{FF2B5EF4-FFF2-40B4-BE49-F238E27FC236}">
                <a16:creationId xmlns:a16="http://schemas.microsoft.com/office/drawing/2014/main" id="{A4F1D793-0AD8-4EF1-85E9-D50B492F2B23}"/>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pic>
        <p:nvPicPr>
          <p:cNvPr id="14" name="Picture 13">
            <a:extLst>
              <a:ext uri="{FF2B5EF4-FFF2-40B4-BE49-F238E27FC236}">
                <a16:creationId xmlns:a16="http://schemas.microsoft.com/office/drawing/2014/main" id="{278B0AA0-D0F0-B242-E872-AA4A6E12FE21}"/>
              </a:ext>
            </a:extLst>
          </p:cNvPr>
          <p:cNvPicPr>
            <a:picLocks noChangeAspect="1"/>
          </p:cNvPicPr>
          <p:nvPr/>
        </p:nvPicPr>
        <p:blipFill>
          <a:blip r:embed="rId3"/>
          <a:stretch>
            <a:fillRect/>
          </a:stretch>
        </p:blipFill>
        <p:spPr>
          <a:xfrm>
            <a:off x="752475" y="2103967"/>
            <a:ext cx="9677400" cy="43053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75447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6DA287-5829-4299-AFDE-7780351AA352}"/>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58CFBE04-2BCC-4D78-AE28-3A0362AC00FD}"/>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Activity diagram: capture, validate, monitor, and notify</a:t>
            </a:r>
          </a:p>
        </p:txBody>
      </p:sp>
      <p:sp>
        <p:nvSpPr>
          <p:cNvPr id="3" name="Rectangle 2">
            <a:extLst>
              <a:ext uri="{FF2B5EF4-FFF2-40B4-BE49-F238E27FC236}">
                <a16:creationId xmlns:a16="http://schemas.microsoft.com/office/drawing/2014/main" id="{D9F0EFCD-876B-4DA4-8712-7192F21528E7}"/>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A repeatable workflow turns product data into timely action.</a:t>
            </a:r>
          </a:p>
        </p:txBody>
      </p:sp>
      <p:sp>
        <p:nvSpPr>
          <p:cNvPr id="4" name="Rectangle 3">
            <a:extLst>
              <a:ext uri="{FF2B5EF4-FFF2-40B4-BE49-F238E27FC236}">
                <a16:creationId xmlns:a16="http://schemas.microsoft.com/office/drawing/2014/main" id="{178D50F5-D2BC-49F9-8489-6C71E593CF12}"/>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08</a:t>
            </a:r>
          </a:p>
        </p:txBody>
      </p:sp>
      <p:sp>
        <p:nvSpPr>
          <p:cNvPr id="5" name="Rectangle 4">
            <a:extLst>
              <a:ext uri="{FF2B5EF4-FFF2-40B4-BE49-F238E27FC236}">
                <a16:creationId xmlns:a16="http://schemas.microsoft.com/office/drawing/2014/main" id="{E6E1CF23-5B79-494E-8851-301BA472EBFE}"/>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pic>
        <p:nvPicPr>
          <p:cNvPr id="12" name="Picture 11">
            <a:extLst>
              <a:ext uri="{FF2B5EF4-FFF2-40B4-BE49-F238E27FC236}">
                <a16:creationId xmlns:a16="http://schemas.microsoft.com/office/drawing/2014/main" id="{05C9A35F-30BD-296B-1243-A4A76C88E938}"/>
              </a:ext>
            </a:extLst>
          </p:cNvPr>
          <p:cNvPicPr>
            <a:picLocks noChangeAspect="1"/>
          </p:cNvPicPr>
          <p:nvPr/>
        </p:nvPicPr>
        <p:blipFill>
          <a:blip r:embed="rId3"/>
          <a:stretch>
            <a:fillRect/>
          </a:stretch>
        </p:blipFill>
        <p:spPr>
          <a:xfrm>
            <a:off x="685800" y="2089149"/>
            <a:ext cx="9999133" cy="43603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16518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A2D6283-82CC-464E-A77E-2C15F4FC8906}"/>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0789CA1E-2D2D-487B-B243-D953F7C1EC25}"/>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State chart: every product has an actionable expiry status</a:t>
            </a:r>
          </a:p>
        </p:txBody>
      </p:sp>
      <p:sp>
        <p:nvSpPr>
          <p:cNvPr id="3" name="Rectangle 2">
            <a:extLst>
              <a:ext uri="{FF2B5EF4-FFF2-40B4-BE49-F238E27FC236}">
                <a16:creationId xmlns:a16="http://schemas.microsoft.com/office/drawing/2014/main" id="{DE06C702-0FD8-4403-A82A-1B72266964AA}"/>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Date comparison moves a product through clear, user-visible states.</a:t>
            </a:r>
          </a:p>
        </p:txBody>
      </p:sp>
      <p:sp>
        <p:nvSpPr>
          <p:cNvPr id="4" name="Rectangle 3">
            <a:extLst>
              <a:ext uri="{FF2B5EF4-FFF2-40B4-BE49-F238E27FC236}">
                <a16:creationId xmlns:a16="http://schemas.microsoft.com/office/drawing/2014/main" id="{1D06BFEA-8F4B-4799-BDB3-C9BBEF64F5CE}"/>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09</a:t>
            </a:r>
          </a:p>
        </p:txBody>
      </p:sp>
      <p:sp>
        <p:nvSpPr>
          <p:cNvPr id="5" name="Rectangle 4">
            <a:extLst>
              <a:ext uri="{FF2B5EF4-FFF2-40B4-BE49-F238E27FC236}">
                <a16:creationId xmlns:a16="http://schemas.microsoft.com/office/drawing/2014/main" id="{B883E3B8-DA6D-42DC-96F5-B16D650E1ECD}"/>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pic>
        <p:nvPicPr>
          <p:cNvPr id="11" name="Picture 10">
            <a:extLst>
              <a:ext uri="{FF2B5EF4-FFF2-40B4-BE49-F238E27FC236}">
                <a16:creationId xmlns:a16="http://schemas.microsoft.com/office/drawing/2014/main" id="{E4FA7B5C-4D6A-E9BD-1E15-0121EF633F3B}"/>
              </a:ext>
            </a:extLst>
          </p:cNvPr>
          <p:cNvPicPr>
            <a:picLocks noChangeAspect="1"/>
          </p:cNvPicPr>
          <p:nvPr/>
        </p:nvPicPr>
        <p:blipFill>
          <a:blip r:embed="rId3"/>
          <a:stretch>
            <a:fillRect/>
          </a:stretch>
        </p:blipFill>
        <p:spPr>
          <a:xfrm>
            <a:off x="685800" y="2046816"/>
            <a:ext cx="10888133" cy="45254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32968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59384DE-B540-40FF-A90F-823B540BC6CD}"/>
              </a:ext>
            </a:extLst>
          </p:cNvPr>
          <p:cNvSpPr>
            <a:spLocks noGrp="1"/>
          </p:cNvSpPr>
          <p:nvPr/>
        </p:nvSpPr>
        <p:spPr>
          <a:xfrm>
            <a:off x="685800" y="285750"/>
            <a:ext cx="2476500" cy="209550"/>
          </a:xfrm>
          <a:prstGeom prst="rect">
            <a:avLst/>
          </a:prstGeom>
          <a:noFill/>
          <a:ln w="0">
            <a:noFill/>
            <a:prstDash val="solid"/>
          </a:ln>
        </p:spPr>
        <p:txBody>
          <a:bodyPr/>
          <a:lstStyle/>
          <a:p>
            <a:pPr>
              <a:defRPr sz="1050" b="1">
                <a:solidFill>
                  <a:srgbClr val="3D8DFF"/>
                </a:solidFill>
              </a:defRPr>
            </a:pPr>
            <a:r>
              <a:rPr sz="1050" b="1">
                <a:solidFill>
                  <a:srgbClr val="3D8DFF"/>
                </a:solidFill>
              </a:rPr>
              <a:t>EXPIRY.ALERT</a:t>
            </a:r>
          </a:p>
        </p:txBody>
      </p:sp>
      <p:sp>
        <p:nvSpPr>
          <p:cNvPr id="2" name="slide-title">
            <a:extLst>
              <a:ext uri="{FF2B5EF4-FFF2-40B4-BE49-F238E27FC236}">
                <a16:creationId xmlns:a16="http://schemas.microsoft.com/office/drawing/2014/main" id="{2171112A-2FB7-428A-B5EE-20407E97C226}"/>
              </a:ext>
            </a:extLst>
          </p:cNvPr>
          <p:cNvSpPr>
            <a:spLocks noGrp="1"/>
          </p:cNvSpPr>
          <p:nvPr/>
        </p:nvSpPr>
        <p:spPr>
          <a:xfrm>
            <a:off x="685800" y="590550"/>
            <a:ext cx="9810750" cy="495300"/>
          </a:xfrm>
          <a:prstGeom prst="rect">
            <a:avLst/>
          </a:prstGeom>
          <a:noFill/>
          <a:ln w="0">
            <a:noFill/>
            <a:prstDash val="solid"/>
          </a:ln>
        </p:spPr>
        <p:txBody>
          <a:bodyPr/>
          <a:lstStyle/>
          <a:p>
            <a:pPr>
              <a:defRPr sz="2700" b="1">
                <a:solidFill>
                  <a:srgbClr val="111827"/>
                </a:solidFill>
              </a:defRPr>
            </a:pPr>
            <a:r>
              <a:rPr sz="2700" b="1">
                <a:solidFill>
                  <a:srgbClr val="111827"/>
                </a:solidFill>
              </a:rPr>
              <a:t>Sequence diagram: how the system triggers a reminder</a:t>
            </a:r>
          </a:p>
        </p:txBody>
      </p:sp>
      <p:sp>
        <p:nvSpPr>
          <p:cNvPr id="3" name="Rectangle 2">
            <a:extLst>
              <a:ext uri="{FF2B5EF4-FFF2-40B4-BE49-F238E27FC236}">
                <a16:creationId xmlns:a16="http://schemas.microsoft.com/office/drawing/2014/main" id="{652FB3EA-B8A0-4E74-BE03-3D7DEF878996}"/>
              </a:ext>
            </a:extLst>
          </p:cNvPr>
          <p:cNvSpPr>
            <a:spLocks noGrp="1"/>
          </p:cNvSpPr>
          <p:nvPr/>
        </p:nvSpPr>
        <p:spPr>
          <a:xfrm>
            <a:off x="685800" y="1104900"/>
            <a:ext cx="10287000" cy="266700"/>
          </a:xfrm>
          <a:prstGeom prst="rect">
            <a:avLst/>
          </a:prstGeom>
          <a:noFill/>
          <a:ln w="0">
            <a:noFill/>
            <a:prstDash val="solid"/>
          </a:ln>
        </p:spPr>
        <p:txBody>
          <a:bodyPr/>
          <a:lstStyle/>
          <a:p>
            <a:pPr>
              <a:defRPr sz="1350" b="0">
                <a:solidFill>
                  <a:srgbClr val="4B5563"/>
                </a:solidFill>
              </a:defRPr>
            </a:pPr>
            <a:r>
              <a:rPr sz="1350" b="0">
                <a:solidFill>
                  <a:srgbClr val="4B5563"/>
                </a:solidFill>
              </a:rPr>
              <a:t>The reminder service connects saved product data to the user notification.</a:t>
            </a:r>
          </a:p>
        </p:txBody>
      </p:sp>
      <p:sp>
        <p:nvSpPr>
          <p:cNvPr id="4" name="Rectangle 3">
            <a:extLst>
              <a:ext uri="{FF2B5EF4-FFF2-40B4-BE49-F238E27FC236}">
                <a16:creationId xmlns:a16="http://schemas.microsoft.com/office/drawing/2014/main" id="{CD7FBDC1-08F9-43DE-B105-96BAFABF3D2A}"/>
              </a:ext>
            </a:extLst>
          </p:cNvPr>
          <p:cNvSpPr>
            <a:spLocks noGrp="1"/>
          </p:cNvSpPr>
          <p:nvPr/>
        </p:nvSpPr>
        <p:spPr>
          <a:xfrm>
            <a:off x="11049000" y="285750"/>
            <a:ext cx="428625" cy="209550"/>
          </a:xfrm>
          <a:prstGeom prst="rect">
            <a:avLst/>
          </a:prstGeom>
          <a:noFill/>
          <a:ln w="0">
            <a:noFill/>
            <a:prstDash val="solid"/>
          </a:ln>
        </p:spPr>
        <p:txBody>
          <a:bodyPr/>
          <a:lstStyle/>
          <a:p>
            <a:pPr>
              <a:defRPr sz="1050" b="1">
                <a:solidFill>
                  <a:srgbClr val="4B5563"/>
                </a:solidFill>
              </a:defRPr>
            </a:pPr>
            <a:r>
              <a:rPr sz="1050" b="1">
                <a:solidFill>
                  <a:srgbClr val="4B5563"/>
                </a:solidFill>
              </a:rPr>
              <a:t>10</a:t>
            </a:r>
          </a:p>
        </p:txBody>
      </p:sp>
      <p:sp>
        <p:nvSpPr>
          <p:cNvPr id="5" name="Rectangle 4">
            <a:extLst>
              <a:ext uri="{FF2B5EF4-FFF2-40B4-BE49-F238E27FC236}">
                <a16:creationId xmlns:a16="http://schemas.microsoft.com/office/drawing/2014/main" id="{408C278A-95E1-4E57-AF50-678C9CC8903F}"/>
              </a:ext>
            </a:extLst>
          </p:cNvPr>
          <p:cNvSpPr>
            <a:spLocks noGrp="1"/>
          </p:cNvSpPr>
          <p:nvPr/>
        </p:nvSpPr>
        <p:spPr>
          <a:xfrm>
            <a:off x="685800" y="1428750"/>
            <a:ext cx="10820400" cy="19050"/>
          </a:xfrm>
          <a:prstGeom prst="rect">
            <a:avLst/>
          </a:prstGeom>
          <a:solidFill>
            <a:srgbClr val="3D8DFF"/>
          </a:solidFill>
          <a:ln w="11430">
            <a:solidFill>
              <a:srgbClr val="3D8DFF"/>
            </a:solidFill>
            <a:prstDash val="solid"/>
          </a:ln>
        </p:spPr>
      </p:sp>
      <p:pic>
        <p:nvPicPr>
          <p:cNvPr id="20" name="Picture 19">
            <a:extLst>
              <a:ext uri="{FF2B5EF4-FFF2-40B4-BE49-F238E27FC236}">
                <a16:creationId xmlns:a16="http://schemas.microsoft.com/office/drawing/2014/main" id="{1FDE40B8-F31D-952D-3EBE-7A29A9497ABE}"/>
              </a:ext>
            </a:extLst>
          </p:cNvPr>
          <p:cNvPicPr>
            <a:picLocks noChangeAspect="1"/>
          </p:cNvPicPr>
          <p:nvPr/>
        </p:nvPicPr>
        <p:blipFill>
          <a:blip r:embed="rId3"/>
          <a:stretch>
            <a:fillRect/>
          </a:stretch>
        </p:blipFill>
        <p:spPr>
          <a:xfrm>
            <a:off x="639530" y="2019300"/>
            <a:ext cx="10379540" cy="41783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08111749"/>
      </p:ext>
    </p:extLst>
  </p:cSld>
  <p:clrMapOvr>
    <a:masterClrMapping/>
  </p:clrMapOvr>
  <p:transition spd="slow">
    <p:push dir="u"/>
  </p:transition>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Archway</Template>
  <TotalTime>2</TotalTime>
  <Words>504</Words>
  <Application>Microsoft Office PowerPoint</Application>
  <DocSecurity>0</DocSecurity>
  <PresentationFormat>Widescreen</PresentationFormat>
  <Paragraphs>78</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shaileshyande0074@gmail.com</cp:lastModifiedBy>
  <cp:revision>3</cp:revision>
  <dcterms:created xsi:type="dcterms:W3CDTF">2026-08-26T18:15:17Z</dcterms:created>
  <dcterms:modified xsi:type="dcterms:W3CDTF">2026-09-06T12:07:42Z</dcterms:modified>
</cp:coreProperties>
</file>