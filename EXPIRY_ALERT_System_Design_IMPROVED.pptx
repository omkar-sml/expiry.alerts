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344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4114800"/>
            <a:ext cx="3200400" cy="320040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EXPIRY.ALERT  —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800"/>
              </a:lnSpc>
              <a:defRPr sz="4200" b="1">
                <a:solidFill>
                  <a:srgbClr val="FFFFFF"/>
                </a:solidFill>
                <a:latin typeface="Calibri"/>
              </a:defRPr>
            </a:pPr>
            <a:r>
              <a:t>Smart Household</a:t>
            </a:r>
          </a:p>
          <a:p>
            <a:pPr>
              <a:lnSpc>
                <a:spcPts val="3800"/>
              </a:lnSpc>
              <a:defRPr sz="4200" b="1">
                <a:solidFill>
                  <a:srgbClr val="FFFFFF"/>
                </a:solidFill>
                <a:latin typeface="Calibri"/>
              </a:defRPr>
            </a:pPr>
            <a:r>
              <a:t>Expiry Management System</a:t>
            </a:r>
          </a:p>
          <a:p>
            <a:pPr>
              <a:spcBef>
                <a:spcPts val="800"/>
              </a:spcBef>
              <a:defRPr sz="1100" b="1">
                <a:solidFill>
                  <a:srgbClr val="00C2A8"/>
                </a:solidFill>
                <a:latin typeface="Calibri"/>
              </a:defRPr>
            </a:pPr>
            <a:r>
              <a:t>FOOD  +  MEDICINE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7"/>
              </a:lnSpc>
              <a:defRPr sz="1150" b="0" i="0">
                <a:solidFill>
                  <a:srgbClr val="C8D6E5"/>
                </a:solidFill>
                <a:latin typeface="Calibri"/>
              </a:defRPr>
            </a:pPr>
            <a:r>
              <a:t>A simple system that helps households prevent unsafe use</a:t>
            </a:r>
            <a:br/>
            <a:r>
              <a:t>and reduce avoidable product waste — before expiry dates arrive.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947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3922776"/>
            <a:ext cx="347472" cy="347472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959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5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9410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ADD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4165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Food or medicine</a:t>
            </a:r>
            <a:br/>
            <a:r>
              <a:t>with expiry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39" y="37947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15767" y="3922776"/>
            <a:ext cx="347472" cy="347472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5767" y="3959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5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7" y="39410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TRACK EXPIRY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15767" y="44165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Automatic daily</a:t>
            </a:r>
            <a:br/>
            <a:r>
              <a:t>status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379476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81728" y="3922776"/>
            <a:ext cx="347472" cy="347472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5935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50"/>
              </a:lnSpc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3941064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GET REMINDERS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41655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Timely alerts before</a:t>
            </a:r>
            <a:br/>
            <a:r>
              <a:t>items expire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640080"/>
            <a:ext cx="35661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18120" y="64008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777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1" i="0">
                <a:solidFill>
                  <a:srgbClr val="0F2A3C"/>
                </a:solidFill>
                <a:latin typeface="Calibri"/>
              </a:defRPr>
            </a:pPr>
            <a:r>
              <a:t>My Inventory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777240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75"/>
              </a:lnSpc>
              <a:defRPr sz="700" b="1" i="0">
                <a:solidFill>
                  <a:srgbClr val="FF6B35"/>
                </a:solidFill>
                <a:latin typeface="Calibri"/>
              </a:defRPr>
            </a:pPr>
            <a:r>
              <a:t>●  3 alerts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1417320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417320"/>
            <a:ext cx="73152" cy="86868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15270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1A2B3C"/>
                </a:solidFill>
                <a:latin typeface="Calibri"/>
              </a:defRPr>
            </a:pPr>
            <a:r>
              <a:t>Milk  •  Dairy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176479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Expires in 2 days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1691640"/>
            <a:ext cx="685800" cy="27432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1719072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02 days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2496312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092440" y="2496312"/>
            <a:ext cx="73152" cy="86868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6060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1A2B3C"/>
                </a:solidFill>
                <a:latin typeface="Calibri"/>
              </a:defRPr>
            </a:pPr>
            <a:r>
              <a:t>Amoxicillin  •  Medicine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843784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Expires in 5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2770632"/>
            <a:ext cx="685800" cy="27432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2798064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05 days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575304"/>
            <a:ext cx="3017520" cy="86868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92440" y="3575304"/>
            <a:ext cx="73152" cy="86868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368503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1A2B3C"/>
                </a:solidFill>
                <a:latin typeface="Calibri"/>
              </a:defRPr>
            </a:pPr>
            <a:r>
              <a:t>Bread  •  Bakery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02752" y="3922776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Expired yesterday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87000" y="3849624"/>
            <a:ext cx="685800" cy="27432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87000" y="3877056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EXPIRED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89204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▸  Daily job checks dates  •  Alerts via in-app + email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40080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8A9BAD"/>
                </a:solidFill>
                <a:latin typeface="Calibri"/>
              </a:defRPr>
            </a:pPr>
            <a:r>
              <a:t>SYSTEM DESIGN PRESENTATION  —  Sep 2026  •  Author: shaileshyande0074@gmail.com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64008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12"/>
              </a:lnSpc>
              <a:defRPr sz="650" b="1" i="0">
                <a:solidFill>
                  <a:srgbClr val="00C2A8"/>
                </a:solidFill>
                <a:latin typeface="Calibri"/>
              </a:defRPr>
            </a:pPr>
            <a:r>
              <a:t>Smart • Safe • Waste-aware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50"/>
              </a:lnSpc>
              <a:defRPr sz="2200" b="1" i="0">
                <a:solidFill>
                  <a:srgbClr val="0F2A3C"/>
                </a:solidFill>
                <a:latin typeface="Calibri"/>
              </a:defRPr>
            </a:pPr>
            <a:r>
              <a:t>What we'll 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0">
                <a:solidFill>
                  <a:srgbClr val="6B7C8E"/>
                </a:solidFill>
                <a:latin typeface="Calibri"/>
              </a:defRPr>
            </a:pPr>
            <a:r>
              <a:t>A concise walk-through — from problem to implementation-ready diagrams.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740" y="17297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6916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87452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9385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Problem &amp; 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414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Why memory-based checking fails; what EXPIRY.ALERT solves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2971800"/>
            <a:ext cx="822960" cy="317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81500" y="17297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6916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44568" y="187452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19385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Scope &amp;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24414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In-scope capabilities and quality attributes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44568" y="2971800"/>
            <a:ext cx="822960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6260" y="17297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38160" y="169164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39328" y="187452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193852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18928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Data &amp; Domain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87968" y="214884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244144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ER + Class / Object design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39328" y="2971800"/>
            <a:ext cx="822960" cy="317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6740" y="35128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48640" y="34747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9808" y="365760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8" y="372160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3675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Behavior &amp;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393192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" y="42245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Use-case, Activity, State &amp; Sequence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822960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381500" y="35128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43400" y="34747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544568" y="365760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44568" y="372160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93208" y="3675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Architecture &amp; Stack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93208" y="393192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44568" y="42245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How the reminder loop runs reliably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44568" y="4754880"/>
            <a:ext cx="822960" cy="3175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176260" y="35128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38160" y="347472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39328" y="3657600"/>
            <a:ext cx="420624" cy="42062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39328" y="372160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87968" y="367588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12"/>
              </a:lnSpc>
              <a:defRPr sz="1050" b="1" i="0">
                <a:solidFill>
                  <a:srgbClr val="0F2A3C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87968" y="3931920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00C2A8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328" y="4224528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0" i="0">
                <a:solidFill>
                  <a:srgbClr val="6B7C8E"/>
                </a:solidFill>
                <a:latin typeface="Calibri"/>
              </a:defRPr>
            </a:pPr>
            <a:r>
              <a:t>Barcode / OCR / reports &amp; rollout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39328" y="4754880"/>
            <a:ext cx="822960" cy="3175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" y="5715000"/>
            <a:ext cx="11091672" cy="530352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8E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1F5A4E"/>
                </a:solidFill>
                <a:latin typeface="Calibri"/>
              </a:defRPr>
            </a:pPr>
            <a:r>
              <a:t>⏱  10-min read  •  Diagrams are implementation-ready (entities → tables, classes → code)  •  Reminder loop is cron-based and idempotent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0"/>
              </a:lnSpc>
              <a:defRPr sz="1400" b="0" i="1">
                <a:solidFill>
                  <a:srgbClr val="6B7C8E"/>
                </a:solidFill>
                <a:latin typeface="Calibri"/>
              </a:defRPr>
            </a:pPr>
            <a:r>
              <a:t>Manual checking is inconsistent, fragmented, and easy to forget.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740" y="15468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5087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08760"/>
            <a:ext cx="2697480" cy="54864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764792"/>
            <a:ext cx="475488" cy="475488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8013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5"/>
              </a:lnSpc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Memory-dependent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0" i="0">
                <a:solidFill>
                  <a:srgbClr val="3A4F66"/>
                </a:solidFill>
                <a:latin typeface="Calibri"/>
              </a:defRPr>
            </a:pPr>
            <a:r>
              <a:t>People must remember</a:t>
            </a:r>
            <a:br/>
            <a:r>
              <a:t> dates for every item.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502152"/>
            <a:ext cx="2286000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685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No single source</a:t>
            </a:r>
            <a:br/>
            <a:r>
              <a:t>of truth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178808"/>
            <a:ext cx="1097280" cy="21945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970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F2A3C"/>
                </a:solidFill>
                <a:latin typeface="Calibri"/>
              </a:defRPr>
            </a:pPr>
            <a:r>
              <a:t>HIGH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2820" y="15468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15087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74720" y="1508760"/>
            <a:ext cx="2697480" cy="54864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75888" y="1764792"/>
            <a:ext cx="475488" cy="47548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5888" y="18013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5"/>
              </a:lnSpc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8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No early 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75888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0" i="0">
                <a:solidFill>
                  <a:srgbClr val="3A4F66"/>
                </a:solidFill>
                <a:latin typeface="Calibri"/>
              </a:defRPr>
            </a:pPr>
            <a:r>
              <a:t>There are no reminders</a:t>
            </a:r>
            <a:br/>
            <a:r>
              <a:t>before an item expires.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8" y="3502152"/>
            <a:ext cx="2286000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5888" y="3685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Discover expiry</a:t>
            </a:r>
            <a:br/>
            <a:r>
              <a:t>too late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75888" y="4178808"/>
            <a:ext cx="1097280" cy="21945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41970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FF6B35"/>
                </a:solidFill>
                <a:latin typeface="Calibri"/>
              </a:defRPr>
            </a:pPr>
            <a:r>
              <a:t>HIGH 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8900" y="15468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15087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1508760"/>
            <a:ext cx="2697480" cy="54864"/>
          </a:xfrm>
          <a:prstGeom prst="roundRect">
            <a:avLst>
              <a:gd name="adj" fmla="val 8000"/>
            </a:avLst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01968" y="1764792"/>
            <a:ext cx="475488" cy="475488"/>
          </a:xfrm>
          <a:prstGeom prst="ellipse">
            <a:avLst/>
          </a:prstGeom>
          <a:solidFill>
            <a:srgbClr val="009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18013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5"/>
              </a:lnSpc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🗂️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Scattered information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0" i="0">
                <a:solidFill>
                  <a:srgbClr val="3A4F66"/>
                </a:solidFill>
                <a:latin typeface="Calibri"/>
              </a:defRPr>
            </a:pPr>
            <a:r>
              <a:t>Food &amp; medicine details</a:t>
            </a:r>
            <a:br/>
            <a:r>
              <a:t>are not stored in one place.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01968" y="3502152"/>
            <a:ext cx="2286000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01968" y="3685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Food ≠ Medicine</a:t>
            </a:r>
            <a:br/>
            <a:r>
              <a:t>no central 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01968" y="4178808"/>
            <a:ext cx="1097280" cy="21945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01968" y="41970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HIGH IMPACT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64980" y="15468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326880" y="1508760"/>
            <a:ext cx="269748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326880" y="1508760"/>
            <a:ext cx="2697480" cy="54864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528048" y="1764792"/>
            <a:ext cx="475488" cy="47548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28048" y="180136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5"/>
              </a:lnSpc>
              <a:defRPr sz="1500" b="0" i="0">
                <a:solidFill>
                  <a:srgbClr val="FFFFFF"/>
                </a:solidFill>
                <a:latin typeface="Calibri"/>
              </a:defRPr>
            </a:pPr>
            <a:r>
              <a:t>⚠️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Health &amp; waste risk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28048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0" i="0">
                <a:solidFill>
                  <a:srgbClr val="3A4F66"/>
                </a:solidFill>
                <a:latin typeface="Calibri"/>
              </a:defRPr>
            </a:pPr>
            <a:r>
              <a:t>Expired items may be used</a:t>
            </a:r>
            <a:br/>
            <a:r>
              <a:t>or usable items discarded late.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528048" y="3502152"/>
            <a:ext cx="2286000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28048" y="36850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Safety + cost</a:t>
            </a:r>
            <a:br/>
            <a:r>
              <a:t>impact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528048" y="4178808"/>
            <a:ext cx="1097280" cy="219456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28048" y="4197096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C0392B"/>
                </a:solidFill>
                <a:latin typeface="Calibri"/>
              </a:defRPr>
            </a:pPr>
            <a:r>
              <a:t>HIGH IMPACT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98348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516636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50"/>
              </a:lnSpc>
              <a:defRPr sz="2200" b="1" i="0">
                <a:solidFill>
                  <a:srgbClr val="00C2A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34440" y="51663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1" i="0">
                <a:solidFill>
                  <a:srgbClr val="00C2A8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4440" y="54132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87"/>
              </a:lnSpc>
              <a:defRPr sz="950" b="0" i="0">
                <a:solidFill>
                  <a:srgbClr val="FFFFFF"/>
                </a:solidFill>
                <a:latin typeface="Calibri"/>
              </a:defRPr>
            </a:pPr>
            <a:r>
              <a:t>Centralize product records and act before dates arrive — with automated daily checks and timely reminders.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5138928"/>
            <a:ext cx="12700" cy="566928"/>
          </a:xfrm>
          <a:prstGeom prst="rect">
            <a:avLst/>
          </a:prstGeom>
          <a:solidFill>
            <a:srgbClr val="2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1080" y="51389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Reduce waste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1080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↑  Safety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51389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Save time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29800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↗  Convenience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0F2A3C"/>
                </a:solidFill>
                <a:latin typeface="Calibri"/>
              </a:defRPr>
            </a:pPr>
            <a:r>
              <a:t>EXPIRY.ALERT centralizes product records and acts before expiry dates arrive.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17043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0C2A8"/>
                </a:solidFill>
                <a:latin typeface="Calibri"/>
              </a:defRPr>
            </a:pPr>
            <a:r>
              <a:t>In-scope now  •  Future-ready by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740" y="15742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361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1700784"/>
            <a:ext cx="54864" cy="1325880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00C2A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103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0F2A3C"/>
                </a:solidFill>
                <a:latin typeface="Calibri"/>
              </a:defRPr>
            </a:pPr>
            <a:r>
              <a:t>Add products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404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6B7C8E"/>
                </a:solidFill>
                <a:latin typeface="Calibri"/>
              </a:defRPr>
            </a:pPr>
            <a:r>
              <a:t>Food or medicine</a:t>
            </a:r>
            <a:br/>
            <a:r>
              <a:t>• Name, category</a:t>
            </a:r>
            <a:br/>
            <a:r>
              <a:t>• Qty, expiry 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7100" y="15742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429000" y="15361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29000" y="1700784"/>
            <a:ext cx="54864" cy="132588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30168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0F2A3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2103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0F2A3C"/>
                </a:solidFill>
                <a:latin typeface="Calibri"/>
              </a:defRPr>
            </a:pPr>
            <a:r>
              <a:t>Store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2404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6B7C8E"/>
                </a:solidFill>
                <a:latin typeface="Calibri"/>
              </a:defRPr>
            </a:pPr>
            <a:r>
              <a:t>Dates, quantity,</a:t>
            </a:r>
            <a:br/>
            <a:r>
              <a:t>category — one place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47459" y="15742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09359" y="15361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09359" y="1700784"/>
            <a:ext cx="54864" cy="1325880"/>
          </a:xfrm>
          <a:prstGeom prst="roundRect">
            <a:avLst>
              <a:gd name="adj" fmla="val 8000"/>
            </a:avLst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7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FFC857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2103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0F2A3C"/>
                </a:solidFill>
                <a:latin typeface="Calibri"/>
              </a:defRPr>
            </a:pPr>
            <a:r>
              <a:t>Check expiry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2404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6B7C8E"/>
                </a:solidFill>
                <a:latin typeface="Calibri"/>
              </a:defRPr>
            </a:pPr>
            <a:r>
              <a:t>Compare against</a:t>
            </a:r>
            <a:br/>
            <a:r>
              <a:t>current date daily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27819" y="15742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89719" y="1536192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19" y="1700784"/>
            <a:ext cx="54864" cy="1325880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0887" y="171907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FF6B35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7" y="21031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0F2A3C"/>
                </a:solidFill>
                <a:latin typeface="Calibri"/>
              </a:defRPr>
            </a:pPr>
            <a:r>
              <a:t>Send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90887" y="240487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6B7C8E"/>
                </a:solidFill>
                <a:latin typeface="Calibri"/>
              </a:defRPr>
            </a:pPr>
            <a:r>
              <a:t>Upcoming or expired</a:t>
            </a:r>
            <a:br/>
            <a:r>
              <a:t>in-app + email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611880"/>
            <a:ext cx="7178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3794760"/>
            <a:ext cx="6720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25"/>
              </a:lnSpc>
              <a:defRPr sz="819" b="0" i="0">
                <a:solidFill>
                  <a:srgbClr val="3A4F66"/>
                </a:solidFill>
                <a:latin typeface="Calibri"/>
              </a:defRPr>
            </a:pPr>
            <a:r>
              <a:t>EXPIRY.ALERT helps households, stores and small businesses keep track of food and medicine expiry.</a:t>
            </a:r>
            <a:br/>
            <a:r>
              <a:t>Users add product details, view expiry status at a glance, and get warnings before items expire —</a:t>
            </a:r>
            <a:br/>
            <a:r>
              <a:t>reducing waste, improving safety, and making day-to-day tracking effortless on mobile or desktop.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01000" y="3611880"/>
            <a:ext cx="3456432" cy="1417320"/>
          </a:xfrm>
          <a:prstGeom prst="roundRect">
            <a:avLst>
              <a:gd name="adj" fmla="val 8000"/>
            </a:avLst>
          </a:prstGeom>
          <a:solidFill>
            <a:srgbClr val="FFF8F0"/>
          </a:solidFill>
          <a:ln w="12700">
            <a:solidFill>
              <a:srgbClr val="FFE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79476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6B35"/>
                </a:solidFill>
                <a:latin typeface="Calibri"/>
              </a:defRPr>
            </a:pPr>
            <a:r>
              <a:t>🔮  Future enhancements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0416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•  Barcode / QR scanning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26110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•  OCR: image-based expiry 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4805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•  Monthly reports (expired vs upcoming)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4700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•  Cross-device sync (mobile + web)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4924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432" y="54589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Households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" y="5641848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Family safety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29000" y="534924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50792" y="54589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Stores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50792" y="5641848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Less write-offs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59" y="534924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46519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31151" y="54589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Small business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31151" y="5641848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19" y="5349240"/>
            <a:ext cx="2606040" cy="5943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26879" y="54681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0" i="0">
                <a:solidFill>
                  <a:srgbClr val="FFFFFF"/>
                </a:solidFill>
                <a:latin typeface="Calibri"/>
              </a:defRPr>
            </a:pPr>
            <a:r>
              <a:t>📱  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1511" y="54589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FFFFFF"/>
                </a:solidFill>
                <a:latin typeface="Calibri"/>
              </a:defRPr>
            </a:pPr>
            <a:r>
              <a:t>Mobile + Web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1511" y="5641848"/>
            <a:ext cx="1280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Anytime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906780"/>
            <a:ext cx="5715000" cy="507492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868680"/>
            <a:ext cx="57150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868680"/>
            <a:ext cx="5715000" cy="47548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097280"/>
            <a:ext cx="5715000" cy="24688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96926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00C2A8"/>
                </a:solidFill>
                <a:latin typeface="Calibri"/>
              </a:defRPr>
            </a:pPr>
            <a:r>
              <a:t>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969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97840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12"/>
              </a:lnSpc>
              <a:defRPr sz="650" b="1" i="0">
                <a:solidFill>
                  <a:srgbClr val="00C2A8"/>
                </a:solidFill>
                <a:latin typeface="Calibri"/>
              </a:defRPr>
            </a:pPr>
            <a:r>
              <a:t>MUST-HAVE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1600200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6184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1600200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Register &amp; log 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181965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Secure auth (hash, session/JWT)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1645920"/>
            <a:ext cx="987552" cy="219456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1664208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167128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2313432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233172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231343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Add / edit / delete 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25328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CRUD with validation &amp; expiry check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2359152"/>
            <a:ext cx="987552" cy="219456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2377440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2880360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3026664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0449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02666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Store expiry dates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Date field + index for fast queries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83480" y="3072384"/>
            <a:ext cx="987552" cy="219456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3480" y="3090672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" y="3593592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77240" y="3739896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375818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" y="3739896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Send reminders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39593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Daily job: upcoming &amp; expired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3785616"/>
            <a:ext cx="987552" cy="219456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83480" y="3803904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4306824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7240" y="4453128"/>
            <a:ext cx="292608" cy="29260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44714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" y="445312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Show upcoming &amp; expired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" y="467258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Filters, sorting, badges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983480" y="4498848"/>
            <a:ext cx="987552" cy="219456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83480" y="4517136"/>
            <a:ext cx="987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1" i="0">
                <a:solidFill>
                  <a:srgbClr val="009E8A"/>
                </a:solidFill>
                <a:latin typeface="Calibri"/>
              </a:defRPr>
            </a:pPr>
            <a:r>
              <a:t>IN SCOPE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02907" y="906780"/>
            <a:ext cx="5715000" cy="507492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464808" y="868680"/>
            <a:ext cx="57150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64808" y="868680"/>
            <a:ext cx="5715000" cy="475488"/>
          </a:xfrm>
          <a:prstGeom prst="roundRect">
            <a:avLst>
              <a:gd name="adj" fmla="val 8000"/>
            </a:avLst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64808" y="1097280"/>
            <a:ext cx="5715000" cy="2468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969264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FFC857"/>
                </a:solidFill>
                <a:latin typeface="Calibri"/>
              </a:defRPr>
            </a:pPr>
            <a:r>
              <a:t>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31736" y="969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32720" y="978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12"/>
              </a:lnSpc>
              <a:defRPr sz="650" b="1" i="0">
                <a:solidFill>
                  <a:srgbClr val="FFC857"/>
                </a:solidFill>
                <a:latin typeface="Calibri"/>
              </a:defRPr>
            </a:pPr>
            <a:r>
              <a:t>QUALITY ATTRIBUTES</a:t>
            </a:r>
          </a:p>
        </p:txBody>
      </p:sp>
      <p:sp>
        <p:nvSpPr>
          <p:cNvPr id="59" name="Diamond 58"/>
          <p:cNvSpPr/>
          <p:nvPr/>
        </p:nvSpPr>
        <p:spPr>
          <a:xfrm>
            <a:off x="6693408" y="1618488"/>
            <a:ext cx="256032" cy="256032"/>
          </a:xfrm>
          <a:prstGeom prst="diamond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86600" y="1600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Easy to use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86600" y="1819656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Clean UI, 2-click add product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652760" y="1645920"/>
            <a:ext cx="1234440" cy="219456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FE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652760" y="1664208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★★★★★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64040" y="166420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1" i="0">
                <a:solidFill>
                  <a:srgbClr val="6B7C8E"/>
                </a:solidFill>
                <a:latin typeface="Calibri"/>
              </a:defRPr>
            </a:pPr>
            <a:r>
              <a:t>USABILITY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93408" y="2167128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iamond 65"/>
          <p:cNvSpPr/>
          <p:nvPr/>
        </p:nvSpPr>
        <p:spPr>
          <a:xfrm>
            <a:off x="6693408" y="2331720"/>
            <a:ext cx="256032" cy="256032"/>
          </a:xfrm>
          <a:prstGeom prst="diamond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86600" y="2313432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Fast performance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600" y="2532888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Indexed expiry queries &lt;150ms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52760" y="2359152"/>
            <a:ext cx="1234440" cy="219456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FE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652760" y="2377440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‹150ms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2377440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1" i="0">
                <a:solidFill>
                  <a:srgbClr val="6B7C8E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693408" y="2880360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6693408" y="3044952"/>
            <a:ext cx="256032" cy="256032"/>
          </a:xfrm>
          <a:prstGeom prst="diamond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6600" y="3026664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Secure user data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86600" y="3246120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Hash + auth + isolation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652760" y="3072384"/>
            <a:ext cx="1234440" cy="219456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FE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52760" y="3090672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OWASP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3090672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1" i="0">
                <a:solidFill>
                  <a:srgbClr val="6B7C8E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93408" y="3593592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iamond 79"/>
          <p:cNvSpPr/>
          <p:nvPr/>
        </p:nvSpPr>
        <p:spPr>
          <a:xfrm>
            <a:off x="6693408" y="3758184"/>
            <a:ext cx="256032" cy="256032"/>
          </a:xfrm>
          <a:prstGeom prst="diamond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086600" y="3739896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Cross-device / browser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86600" y="3959352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Responsive web + mobile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652760" y="3785616"/>
            <a:ext cx="1234440" cy="219456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FE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652760" y="3803904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99%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464040" y="3803904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1" i="0">
                <a:solidFill>
                  <a:srgbClr val="6B7C8E"/>
                </a:solidFill>
                <a:latin typeface="Calibri"/>
              </a:defRPr>
            </a:pPr>
            <a:r>
              <a:t>COMPATIBILITY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693408" y="4306824"/>
            <a:ext cx="5257800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6693408" y="4471416"/>
            <a:ext cx="256032" cy="256032"/>
          </a:xfrm>
          <a:prstGeom prst="diamond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86600" y="44531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62"/>
              </a:lnSpc>
              <a:defRPr sz="850" b="1" i="0">
                <a:solidFill>
                  <a:srgbClr val="0F2A3C"/>
                </a:solidFill>
                <a:latin typeface="Calibri"/>
              </a:defRPr>
            </a:pPr>
            <a:r>
              <a:t>Reliable &amp; maintainable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86600" y="4672584"/>
            <a:ext cx="23774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Cron, logs, modular code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652760" y="4498848"/>
            <a:ext cx="1234440" cy="219456"/>
          </a:xfrm>
          <a:prstGeom prst="roundRect">
            <a:avLst>
              <a:gd name="adj" fmla="val 8000"/>
            </a:avLst>
          </a:prstGeom>
          <a:solidFill>
            <a:srgbClr val="FFF8E6"/>
          </a:solidFill>
          <a:ln w="12700">
            <a:solidFill>
              <a:srgbClr val="FFE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652760" y="4517136"/>
            <a:ext cx="1234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99.5%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464040" y="4517136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1" i="0">
                <a:solidFill>
                  <a:srgbClr val="6B7C8E"/>
                </a:solidFill>
                <a:latin typeface="Calibri"/>
              </a:defRPr>
            </a:pPr>
            <a:r>
              <a:t>RELIABILITY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50"/>
              </a:lnSpc>
              <a:defRPr sz="1000" b="0" i="1">
                <a:solidFill>
                  <a:srgbClr val="6B7C8E"/>
                </a:solidFill>
                <a:latin typeface="Calibri"/>
              </a:defRPr>
            </a:pPr>
            <a:r>
              <a:t>Three layers + a daily job. Simple, reliable, and easy to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740" y="13639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3258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325880"/>
            <a:ext cx="3520440" cy="347472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527048"/>
            <a:ext cx="3520440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3898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PRESENTATION</a:t>
            </a:r>
          </a:p>
        </p:txBody>
      </p:sp>
      <p:sp>
        <p:nvSpPr>
          <p:cNvPr id="17" name="Oval 16"/>
          <p:cNvSpPr/>
          <p:nvPr/>
        </p:nvSpPr>
        <p:spPr>
          <a:xfrm>
            <a:off x="2029968" y="1856232"/>
            <a:ext cx="566928" cy="56692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29968" y="19293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Web / Mobile UI</a:t>
            </a:r>
            <a:br/>
            <a:r>
              <a:t>• Add / edit products</a:t>
            </a:r>
            <a:br/>
            <a:r>
              <a:t>• Upcoming / Expired views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172968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6B7C8E"/>
                </a:solidFill>
                <a:latin typeface="Calibri"/>
              </a:defRPr>
            </a:pPr>
            <a:r>
              <a:t>React / Responsive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defRPr sz="1800" b="1" i="0">
                <a:solidFill>
                  <a:srgbClr val="6B7C8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1500" y="13639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13258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43400" y="1325880"/>
            <a:ext cx="3520440" cy="347472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1527048"/>
            <a:ext cx="3520440" cy="146304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13898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27" name="Oval 26"/>
          <p:cNvSpPr/>
          <p:nvPr/>
        </p:nvSpPr>
        <p:spPr>
          <a:xfrm>
            <a:off x="5824728" y="1856232"/>
            <a:ext cx="566928" cy="566928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24728" y="19293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API + Validation</a:t>
            </a:r>
            <a:br/>
            <a:r>
              <a:t>• Auth &amp; CRUD</a:t>
            </a:r>
            <a:br/>
            <a:r>
              <a:t>• Expiry comparison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3172968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6B7C8E"/>
                </a:solidFill>
                <a:latin typeface="Calibri"/>
              </a:defRPr>
            </a:pPr>
            <a:r>
              <a:t>Node / Python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2286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defRPr sz="1800" b="1" i="0">
                <a:solidFill>
                  <a:srgbClr val="6B7C8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6260" y="13639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1325880"/>
            <a:ext cx="35204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60" y="1325880"/>
            <a:ext cx="3520440" cy="347472"/>
          </a:xfrm>
          <a:prstGeom prst="roundRect">
            <a:avLst>
              <a:gd name="adj" fmla="val 8000"/>
            </a:avLst>
          </a:prstGeom>
          <a:solidFill>
            <a:srgbClr val="3A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527048"/>
            <a:ext cx="3520440" cy="146304"/>
          </a:xfrm>
          <a:prstGeom prst="rect">
            <a:avLst/>
          </a:prstGeom>
          <a:solidFill>
            <a:srgbClr val="3A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8" y="138988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37" name="Oval 36"/>
          <p:cNvSpPr/>
          <p:nvPr/>
        </p:nvSpPr>
        <p:spPr>
          <a:xfrm>
            <a:off x="9619488" y="1856232"/>
            <a:ext cx="566928" cy="566928"/>
          </a:xfrm>
          <a:prstGeom prst="ellipse">
            <a:avLst/>
          </a:prstGeom>
          <a:solidFill>
            <a:srgbClr val="3A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9488" y="192938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DB: Users, Products, Reminders</a:t>
            </a:r>
            <a:br/>
            <a:r>
              <a:t>• Indexed expiry_date</a:t>
            </a:r>
            <a:br/>
            <a:r>
              <a:t>• User isolation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3172968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6B7C8E"/>
                </a:solidFill>
                <a:latin typeface="Calibri"/>
              </a:defRPr>
            </a:pPr>
            <a:r>
              <a:t>PostgreSQL / MySQL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840480"/>
            <a:ext cx="11091672" cy="19659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0233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00C2A8"/>
                </a:solidFill>
                <a:latin typeface="Calibri"/>
              </a:defRPr>
            </a:pPr>
            <a:r>
              <a:t>⏰  DAILY REMINDER JOB  (cron / scheduler)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4434840"/>
            <a:ext cx="384048" cy="384048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480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44714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Fetch products</a:t>
            </a:r>
            <a:br/>
            <a:r>
              <a:t>where expiry near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54680" y="4599432"/>
            <a:ext cx="320040" cy="25400"/>
          </a:xfrm>
          <a:prstGeom prst="rect">
            <a:avLst/>
          </a:prstGeom>
          <a:solidFill>
            <a:srgbClr val="2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54680" y="44897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00C2A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48" name="Oval 47"/>
          <p:cNvSpPr/>
          <p:nvPr/>
        </p:nvSpPr>
        <p:spPr>
          <a:xfrm>
            <a:off x="3566160" y="443484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4480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69080" y="44714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Compare</a:t>
            </a:r>
            <a:br/>
            <a:r>
              <a:t>current 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97880" y="4599432"/>
            <a:ext cx="320040" cy="25400"/>
          </a:xfrm>
          <a:prstGeom prst="rect">
            <a:avLst/>
          </a:prstGeom>
          <a:solidFill>
            <a:srgbClr val="2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880" y="44897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00C2A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3" name="Oval 52"/>
          <p:cNvSpPr/>
          <p:nvPr/>
        </p:nvSpPr>
        <p:spPr>
          <a:xfrm>
            <a:off x="6309360" y="4434840"/>
            <a:ext cx="384048" cy="38404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480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44714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Create reminder</a:t>
            </a:r>
            <a:br/>
            <a:r>
              <a:t>(if not exists)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641080" y="4599432"/>
            <a:ext cx="320040" cy="25400"/>
          </a:xfrm>
          <a:prstGeom prst="rect">
            <a:avLst/>
          </a:prstGeom>
          <a:solidFill>
            <a:srgbClr val="2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41080" y="448970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defRPr sz="1200" b="1" i="0">
                <a:solidFill>
                  <a:srgbClr val="00C2A8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58" name="Oval 57"/>
          <p:cNvSpPr/>
          <p:nvPr/>
        </p:nvSpPr>
        <p:spPr>
          <a:xfrm>
            <a:off x="9052560" y="4434840"/>
            <a:ext cx="384048" cy="384048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44805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4471416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Send notification</a:t>
            </a:r>
            <a:br/>
            <a:r>
              <a:t>in-app + email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534924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0" i="0">
                <a:solidFill>
                  <a:srgbClr val="8A9BAD"/>
                </a:solidFill>
                <a:latin typeface="Calibri"/>
              </a:defRPr>
            </a:pPr>
            <a:r>
              <a:t>Idempotent • Indexed query • User-isolated  •  Logs &amp; retry on failure  •  Configurable window (e.g., 7 days before expiry)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Core database relationships for expiry tracking — corrected for consistency and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76809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61504" cy="4754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1234440"/>
            <a:ext cx="3182112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234440"/>
            <a:ext cx="3182112" cy="38404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3182112" cy="15544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325880"/>
            <a:ext cx="2816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How to read this ER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82880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Users 1—* Products (owns)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21214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Products 1—* Reminders (generates)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414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FK: products.user_id → users.id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7066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FK: reminders.product_id → products.id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29992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53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Expiry indexed for daily scan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329184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Reminder unique per product+date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675888"/>
            <a:ext cx="2816352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94760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Design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593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Add indexes: expiry_date, user_id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17880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Use ON DELETE CASCADE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398264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Reminder status: pending/sent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806440"/>
            <a:ext cx="2816352" cy="27432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8338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0" i="0">
                <a:solidFill>
                  <a:srgbClr val="009E8A"/>
                </a:solidFill>
                <a:latin typeface="Calibri"/>
              </a:defRPr>
            </a:pPr>
            <a:r>
              <a:t>↗  Zoom: see HD image in full-size 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Each class maps directly to a database entity and its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548640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5266944" cy="448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03504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6B7C8E"/>
                </a:solidFill>
                <a:latin typeface="Calibri"/>
              </a:defRPr>
            </a:pPr>
            <a:r>
              <a:t>Class diagram  —  structure &amp; operations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234440"/>
            <a:ext cx="5312664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353312"/>
            <a:ext cx="5093208" cy="4480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27648" y="6035040"/>
            <a:ext cx="53126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6B7C8E"/>
                </a:solidFill>
                <a:latin typeface="Calibri"/>
              </a:defRPr>
            </a:pPr>
            <a:r>
              <a:t>Object diagram  —  runtime example (1 user → 2 products → reminders)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1005840"/>
            <a:ext cx="6336792" cy="201168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1024128"/>
            <a:ext cx="63367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0" i="0">
                <a:solidFill>
                  <a:srgbClr val="009E8A"/>
                </a:solidFill>
                <a:latin typeface="Calibri"/>
              </a:defRPr>
            </a:pPr>
            <a:r>
              <a:t>User  —1..*→  Product  —1..*→  Reminder   •   Methods: addProduct(), checkExpiry(), sendAlert()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The administrator maintains the user and system data — refined for clarity.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76809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61504" cy="4754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1234440"/>
            <a:ext cx="3182112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234440"/>
            <a:ext cx="3182112" cy="38404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3182112" cy="15544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325880"/>
            <a:ext cx="2816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Actors &amp; use cases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82880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User: Register, Login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21214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User: Add / Edit / Delete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414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User: View upcoming/expired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7066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System: Send reminders (auto)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29992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53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Admin: Manage users &amp; data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329184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Includes: authentication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675888"/>
            <a:ext cx="2816352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94760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Design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593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System is actor for cron job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17880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Extend: filter by category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398264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Precondition: user authenticated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806440"/>
            <a:ext cx="2816352" cy="27432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8338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0" i="0">
                <a:solidFill>
                  <a:srgbClr val="009E8A"/>
                </a:solidFill>
                <a:latin typeface="Calibri"/>
              </a:defRPr>
            </a:pPr>
            <a:r>
              <a:t>↗  Zoom: see HD image in full-size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A repeatable workflow turns product data into timely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76809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61504" cy="4754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1234440"/>
            <a:ext cx="3182112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234440"/>
            <a:ext cx="3182112" cy="38404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3182112" cy="15544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325880"/>
            <a:ext cx="2816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Flow steps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82880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Login → Add product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21214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Validate → Store securely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414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Daily check: expiry vs today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7066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Branch: upcoming / expired / ok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29992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53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Generate reminder → notify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329184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 views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675888"/>
            <a:ext cx="2816352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94760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Design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593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Decision: daysUntilExpiry?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17880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Loop: daily scheduler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398264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Error path: validation failure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806440"/>
            <a:ext cx="2816352" cy="27432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8338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0" i="0">
                <a:solidFill>
                  <a:srgbClr val="009E8A"/>
                </a:solidFill>
                <a:latin typeface="Calibri"/>
              </a:defRPr>
            </a:pPr>
            <a:r>
              <a:t>↗  Zoom: see HD image in full-size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Date comparison moves a product through clear, user-visible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76809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61504" cy="4754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1234440"/>
            <a:ext cx="3182112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234440"/>
            <a:ext cx="3182112" cy="38404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3182112" cy="15544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325880"/>
            <a:ext cx="2816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States &amp; transitions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82880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Fresh → Expiring Soon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21214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Expiring Soon → Expired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414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Any → Updated (edit date)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7066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Trigger: expiry_date - today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29992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53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Guard: threshold (e.g., 7d)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329184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Action: badge + 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675888"/>
            <a:ext cx="2816352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94760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Design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593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Initial: fresh on create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17880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Final: archived / deleted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398264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History: allow restore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806440"/>
            <a:ext cx="2816352" cy="27432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8338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0" i="0">
                <a:solidFill>
                  <a:srgbClr val="009E8A"/>
                </a:solidFill>
                <a:latin typeface="Calibri"/>
              </a:defRPr>
            </a:pPr>
            <a:r>
              <a:t>↗  Zoom: see HD image in full-size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The reminder service connects saved product data to the user notification.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234440"/>
            <a:ext cx="7680960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53312"/>
            <a:ext cx="7461504" cy="47548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458200" y="1234440"/>
            <a:ext cx="3182112" cy="4983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1234440"/>
            <a:ext cx="3182112" cy="384048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58200" y="1463040"/>
            <a:ext cx="3182112" cy="155448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325880"/>
            <a:ext cx="28163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Call sequence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182880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Scheduler → ReminderService</a:t>
            </a:r>
          </a:p>
        </p:txBody>
      </p:sp>
      <p:sp>
        <p:nvSpPr>
          <p:cNvPr id="20" name="Oval 19"/>
          <p:cNvSpPr/>
          <p:nvPr/>
        </p:nvSpPr>
        <p:spPr>
          <a:xfrm>
            <a:off x="8641080" y="2121408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23960" y="207568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Service → DB: query expiring</a:t>
            </a:r>
          </a:p>
        </p:txBody>
      </p:sp>
      <p:sp>
        <p:nvSpPr>
          <p:cNvPr id="22" name="Oval 21"/>
          <p:cNvSpPr/>
          <p:nvPr/>
        </p:nvSpPr>
        <p:spPr>
          <a:xfrm>
            <a:off x="8641080" y="2414016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60" y="23682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Service → Product: check dates</a:t>
            </a:r>
          </a:p>
        </p:txBody>
      </p:sp>
      <p:sp>
        <p:nvSpPr>
          <p:cNvPr id="24" name="Oval 23"/>
          <p:cNvSpPr/>
          <p:nvPr/>
        </p:nvSpPr>
        <p:spPr>
          <a:xfrm>
            <a:off x="8641080" y="2706624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23960" y="266090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Service → Reminder: create</a:t>
            </a:r>
          </a:p>
        </p:txBody>
      </p:sp>
      <p:sp>
        <p:nvSpPr>
          <p:cNvPr id="26" name="Oval 25"/>
          <p:cNvSpPr/>
          <p:nvPr/>
        </p:nvSpPr>
        <p:spPr>
          <a:xfrm>
            <a:off x="8641080" y="2999232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953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Service → Notification: send</a:t>
            </a:r>
          </a:p>
        </p:txBody>
      </p:sp>
      <p:sp>
        <p:nvSpPr>
          <p:cNvPr id="28" name="Oval 27"/>
          <p:cNvSpPr/>
          <p:nvPr/>
        </p:nvSpPr>
        <p:spPr>
          <a:xfrm>
            <a:off x="8641080" y="3291840"/>
            <a:ext cx="91440" cy="91440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32461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User ← Notification: alert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1080" y="3675888"/>
            <a:ext cx="2816352" cy="127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794760"/>
            <a:ext cx="2816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1" i="0">
                <a:solidFill>
                  <a:srgbClr val="0F2A3C"/>
                </a:solidFill>
                <a:latin typeface="Calibri"/>
              </a:defRPr>
            </a:pPr>
            <a:r>
              <a:t>Design notes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5935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Alt: no products → no alert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41080" y="4178808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Loop over each product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4398264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6B7C8E"/>
                </a:solidFill>
                <a:latin typeface="Calibri"/>
              </a:defRPr>
            </a:pPr>
            <a:r>
              <a:t>• Idempotent create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5806440"/>
            <a:ext cx="2816352" cy="274320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41080" y="583387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50"/>
              </a:lnSpc>
              <a:defRPr sz="600" b="0" i="0">
                <a:solidFill>
                  <a:srgbClr val="009E8A"/>
                </a:solidFill>
                <a:latin typeface="Calibri"/>
              </a:defRPr>
            </a:pPr>
            <a:r>
              <a:t>↗  Zoom: see HD image in full-size 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Smart Household Expiry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Confidential  •  System Design Presentation  •  Sep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868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0" i="1">
                <a:solidFill>
                  <a:srgbClr val="6B7C8E"/>
                </a:solidFill>
                <a:latin typeface="Calibri"/>
              </a:defRPr>
            </a:pPr>
            <a:r>
              <a:t>Straightforward stack — optimized for speed, security, and maintainability.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6740" y="12725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2344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234440"/>
            <a:ext cx="3520440" cy="329184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3520440" cy="146304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2984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76479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Web: React / Tailwind</a:t>
            </a:r>
            <a:br/>
            <a:r>
              <a:t>Mobile: PWA / Flutter</a:t>
            </a:r>
            <a:br/>
            <a:r>
              <a:t>Charts: expiry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1500" y="12725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43400" y="12344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43400" y="1234440"/>
            <a:ext cx="3520440" cy="329184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417320"/>
            <a:ext cx="3520440" cy="146304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2984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176479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API: Node.js / Express</a:t>
            </a:r>
            <a:br/>
            <a:r>
              <a:t>Auth: JWT + bcrypt</a:t>
            </a:r>
            <a:br/>
            <a:r>
              <a:t>Validation: Zod / Joi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76260" y="12725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2344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234440"/>
            <a:ext cx="3520440" cy="329184"/>
          </a:xfrm>
          <a:prstGeom prst="roundRect">
            <a:avLst>
              <a:gd name="adj" fmla="val 8000"/>
            </a:avLst>
          </a:prstGeom>
          <a:solidFill>
            <a:srgbClr val="3A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1417320"/>
            <a:ext cx="3520440" cy="146304"/>
          </a:xfrm>
          <a:prstGeom prst="rect">
            <a:avLst/>
          </a:prstGeom>
          <a:solidFill>
            <a:srgbClr val="3A5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8" y="1298448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25"/>
              </a:lnSpc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Data &amp; Jobs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8" y="1764792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20" b="0" i="0">
                <a:solidFill>
                  <a:srgbClr val="3A4F66"/>
                </a:solidFill>
                <a:latin typeface="Calibri"/>
              </a:defRPr>
            </a:pPr>
            <a:r>
              <a:t>DB: PostgreSQL</a:t>
            </a:r>
            <a:br/>
            <a:r>
              <a:t>ORM: Prisma / Sequelize</a:t>
            </a:r>
            <a:br/>
            <a:r>
              <a:t>Cron: node-cron / BullMQ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2971800"/>
            <a:ext cx="11091672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2971800"/>
            <a:ext cx="11091672" cy="347472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154680"/>
            <a:ext cx="11091672" cy="164592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05409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305409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054096"/>
            <a:ext cx="3502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FFFFFF"/>
                </a:solidFill>
                <a:latin typeface="Calibri"/>
              </a:defRPr>
            </a:pPr>
            <a:r>
              <a:t>Metric /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4107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F2A3C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410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Indexed queries + pagination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10712"/>
            <a:ext cx="3502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9E8A"/>
                </a:solidFill>
                <a:latin typeface="Calibri"/>
              </a:defRPr>
            </a:pPr>
            <a:r>
              <a:t>&lt;150 ms query, 2s page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3703320"/>
            <a:ext cx="10817352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822191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F2A3C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46120" y="382219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Hash, JWT, RBAC, SQL-inject safe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822191"/>
            <a:ext cx="3502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9E8A"/>
                </a:solidFill>
                <a:latin typeface="Calibri"/>
              </a:defRPr>
            </a:pPr>
            <a:r>
              <a:t>OWASP top-10 covered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4114799"/>
            <a:ext cx="10817352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758183"/>
            <a:ext cx="11091672" cy="3474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42336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F2A3C"/>
                </a:solidFill>
                <a:latin typeface="Calibri"/>
              </a:defRPr>
            </a:pPr>
            <a:r>
              <a:t>Reliability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42336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Idempotent job + logs + retry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233672"/>
            <a:ext cx="3502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9E8A"/>
                </a:solidFill>
                <a:latin typeface="Calibri"/>
              </a:defRPr>
            </a:pPr>
            <a:r>
              <a:t>99.5% job success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526280"/>
            <a:ext cx="10817352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6451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F2A3C"/>
                </a:solidFill>
                <a:latin typeface="Calibri"/>
              </a:defRPr>
            </a:pPr>
            <a:r>
              <a:t>Usability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46451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2-click add, color badges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645152"/>
            <a:ext cx="3502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9E8A"/>
                </a:solidFill>
                <a:latin typeface="Calibri"/>
              </a:defRPr>
            </a:pPr>
            <a:r>
              <a:t>SUS &gt; 80, &lt;3s task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" y="4937760"/>
            <a:ext cx="10817352" cy="127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48640" y="4581144"/>
            <a:ext cx="11091672" cy="347472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0566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1" i="0">
                <a:solidFill>
                  <a:srgbClr val="0F2A3C"/>
                </a:solidFill>
                <a:latin typeface="Calibri"/>
              </a:defRPr>
            </a:pPr>
            <a:r>
              <a:t>Maintainability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46120" y="50566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3A4F66"/>
                </a:solidFill>
                <a:latin typeface="Calibri"/>
              </a:defRPr>
            </a:pPr>
            <a:r>
              <a:t>Modular services, tests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5320" y="5056632"/>
            <a:ext cx="35021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75"/>
              </a:lnSpc>
              <a:defRPr sz="700" b="1" i="0">
                <a:solidFill>
                  <a:srgbClr val="009E8A"/>
                </a:solidFill>
                <a:latin typeface="Calibri"/>
              </a:defRPr>
            </a:pPr>
            <a:r>
              <a:t>&gt;80% coverage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25"/>
              </a:lnSpc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EXPIRY.ALERT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"/>
            <a:ext cx="1828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12"/>
              </a:lnSpc>
              <a:defRPr sz="650" b="0" i="0">
                <a:solidFill>
                  <a:srgbClr val="00C2A8"/>
                </a:solidFill>
                <a:latin typeface="Calibri"/>
              </a:defRPr>
            </a:pPr>
            <a:r>
              <a:t>FOOD  • 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0" y="100584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128016"/>
            <a:ext cx="3840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75"/>
              </a:lnSpc>
              <a:defRPr sz="1100" b="1" i="0">
                <a:solidFill>
                  <a:srgbClr val="0F2A3C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02920"/>
            <a:ext cx="12188952" cy="3810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4572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EXPIRY.ALERT — Smart Household Expiry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565392"/>
            <a:ext cx="4480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750"/>
              </a:lnSpc>
              <a:defRPr sz="600" b="0" i="0">
                <a:solidFill>
                  <a:srgbClr val="6B7C8E"/>
                </a:solidFill>
                <a:latin typeface="Calibri"/>
              </a:defRPr>
            </a:pPr>
            <a:r>
              <a:t>Q&amp;A  •  Feedback welcome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1811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1430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1143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399032"/>
            <a:ext cx="3520440" cy="182880"/>
          </a:xfrm>
          <a:prstGeom prst="rect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1 — MVP (Now)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12527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Weeks 1–4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Core CRUD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0939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Auth + expiry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3865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Daily reminders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26791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Upcoming / Expired views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500" y="11811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43400" y="11430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43400" y="1143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1399032"/>
            <a:ext cx="3520440" cy="182880"/>
          </a:xfrm>
          <a:prstGeom prst="rect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2 — Smart (Next)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2527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Weeks 5–8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Barcode / QR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20939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OCR expiry 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44568" y="23865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Category filters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26791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Email + push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6260" y="11811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E8EE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38160" y="1143000"/>
            <a:ext cx="3520440" cy="2240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1143000"/>
            <a:ext cx="3520440" cy="438912"/>
          </a:xfrm>
          <a:prstGeom prst="roundRect">
            <a:avLst>
              <a:gd name="adj" fmla="val 8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1399032"/>
            <a:ext cx="352044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1234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00"/>
              </a:lnSpc>
              <a:defRPr sz="800" b="1" i="0">
                <a:solidFill>
                  <a:srgbClr val="FFFFFF"/>
                </a:solidFill>
                <a:latin typeface="Calibri"/>
              </a:defRPr>
            </a:pPr>
            <a:r>
              <a:t>Phase 3 —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1252728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12"/>
              </a:lnSpc>
              <a:defRPr sz="650" b="1" i="0">
                <a:solidFill>
                  <a:srgbClr val="FFFFFF"/>
                </a:solidFill>
                <a:latin typeface="Calibri"/>
              </a:defRPr>
            </a:pPr>
            <a:r>
              <a:t>Weeks 9–12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18013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Monthly reports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8" y="209397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Waste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23865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Family sharing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8" y="26791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3A4F66"/>
                </a:solidFill>
                <a:latin typeface="Calibri"/>
              </a:defRPr>
            </a:pPr>
            <a:r>
              <a:t>•  Admin 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2240280"/>
            <a:ext cx="7616952" cy="254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94760" y="2176272"/>
            <a:ext cx="146304" cy="146304"/>
          </a:xfrm>
          <a:prstGeom prst="ellipse">
            <a:avLst/>
          </a:prstGeom>
          <a:solidFill>
            <a:srgbClr val="00C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9520" y="2176272"/>
            <a:ext cx="146304" cy="146304"/>
          </a:xfrm>
          <a:prstGeom prst="ellipse">
            <a:avLst/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84280" y="217627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" y="3749039"/>
            <a:ext cx="11091672" cy="1051560"/>
          </a:xfrm>
          <a:prstGeom prst="roundRect">
            <a:avLst>
              <a:gd name="adj" fmla="val 8000"/>
            </a:avLst>
          </a:prstGeom>
          <a:solidFill>
            <a:srgbClr val="0F2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393192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25"/>
              </a:lnSpc>
              <a:defRPr sz="900" b="1" i="0">
                <a:solidFill>
                  <a:srgbClr val="00C2A8"/>
                </a:solidFill>
                <a:latin typeface="Calibri"/>
              </a:defRPr>
            </a:pPr>
            <a:r>
              <a:t>Why this design wins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224528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✓  Prevents unsafe use of expired food/medicine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444398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✓  Reduces waste and saves money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4663440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37"/>
              </a:lnSpc>
              <a:defRPr sz="750" b="0" i="0">
                <a:solidFill>
                  <a:srgbClr val="FFFFFF"/>
                </a:solidFill>
                <a:latin typeface="Calibri"/>
              </a:defRPr>
            </a:pPr>
            <a:r>
              <a:t>✓  Single source of truth — anytime, anywhere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72400" y="3931920"/>
            <a:ext cx="12700" cy="685800"/>
          </a:xfrm>
          <a:prstGeom prst="rect">
            <a:avLst/>
          </a:prstGeom>
          <a:solidFill>
            <a:srgbClr val="2A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9319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1" i="0">
                <a:solidFill>
                  <a:srgbClr val="00C2A8"/>
                </a:solidFill>
                <a:latin typeface="Calibri"/>
              </a:defRPr>
            </a:pPr>
            <a:r>
              <a:t>Success metric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0" i="0">
                <a:solidFill>
                  <a:srgbClr val="C8D6E5"/>
                </a:solidFill>
                <a:latin typeface="Calibri"/>
              </a:defRPr>
            </a:pPr>
            <a:r>
              <a:t>↓  expired-use incidents  •  ↓  waste (kg/month)</a:t>
            </a:r>
            <a:br/>
            <a:r>
              <a:t>↑  reminder open-rate  •  ↑  DAU / retention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5166360"/>
            <a:ext cx="1109167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C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  <a:defRPr sz="1600" b="1" i="0">
                <a:solidFill>
                  <a:srgbClr val="0F2A3C"/>
                </a:solidFill>
                <a:latin typeface="Calibri"/>
              </a:defRPr>
            </a:pPr>
            <a:r>
              <a:t>Thank you  —  Questions?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5669280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75"/>
              </a:lnSpc>
              <a:defRPr sz="700" b="1" i="0">
                <a:solidFill>
                  <a:srgbClr val="6B7C8E"/>
                </a:solidFill>
                <a:latin typeface="Calibri"/>
              </a:defRPr>
            </a:pPr>
            <a:r>
              <a:t>EXPIRY.ALERT  •  Smart Household Expiry Management System  •  FOOD + MEDICINE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394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875"/>
              </a:lnSpc>
              <a:defRPr sz="700" b="0" i="0">
                <a:solidFill>
                  <a:srgbClr val="6B7C8E"/>
                </a:solidFill>
                <a:latin typeface="Calibri"/>
              </a:defRPr>
            </a:pPr>
            <a:r>
              <a:t>Contact: shaileshyande0074@gmail.com</a:t>
            </a:r>
            <a:br/>
            <a:r>
              <a:t>System Design Presentation — Sep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EXPIRY.ALERT - System Design</dc:title>
  <dc:subject>Smart Household Expiry Management System</dc:subject>
  <dc:creator>Improved by Muse Spark</dc:creator>
  <cp:keywords>expiry alert, system design, ER, UML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